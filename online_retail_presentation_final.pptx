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1"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1"/>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Timing: 30 seconds</a:t>
            </a:r>
          </a:p>
          <a:p/>
          <a:p>
            <a:r>
              <a:t>Hello, my project is an exploratory analysis of historical transactions from a UK online retailer. I used Python and pandas for data cleaning and analysis, and Matplotlib and Seaborn for visualizations. The main business question is: what patterns can these transactions reveal about product demand and sales performance? I will cover the dataset and cleaning choices, sales and product trends, recommendations, and limitations. Replace the name placeholder on this slide before presenting.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Timing: 45 seconds</a:t>
            </a:r>
          </a:p>
          <a:p/>
          <a:p>
            <a:r>
              <a:t>The original dataset contained 541,909 rows and eight columns, spanning December 2010 to December 2011. I removed 5,268 duplicate rows, leaving 536,639. I filled 1,454 missing descriptions with “Unknown” and retained missing customer IDs because those records still support analyses that do not require customer identification. I converted invoice dates to datetime. Negative quantities were retained because they may represent returns or credit notes. I removed two rows with negative unit prices and kept zero-price rows for investigation. The distribution chart shows skewed price values, and the heatmap shows linear relationships that should be interpreted with outliers and negative transactions in mind.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Timing: 60 seconds</a:t>
            </a:r>
          </a:p>
          <a:p/>
          <a:p>
            <a:r>
              <a:t>This chart sums Quantity multiplied by UnitPrice for every invoice line, so it shows net recorded revenue rather than positive sales alone. Negative-quantity transactions reduce the total and may represent returns or credit notes; their exact reason should not be assumed without checking. Revenue increased toward autumn and reached its highest level in November 2011, at about £1.46 million. November also had the highest invoice volume, at 3,462. December's totals are lower, but the dataset ends on December 9, and records only 1,015 invoices for that partial month. For fair comparisons, compare equivalent date ranges or exclude incomplete December from full-month comparisons.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Timing: 60 seconds</a:t>
            </a:r>
          </a:p>
          <a:p/>
          <a:p>
            <a:r>
              <a:t>The bar chart ranks the ten products with the highest net quantity. WORLD WAR 2 GLIDERS ASSTD DESIGNS leads with 53,751 net units. The top products also include novelty, gift, and household items. This can guide further product-level demand review and inventory planning. It measures net units rather than revenue, profit, or order count, and negative quantities reduce the ranking totals. The monthly order-volume analysis also shows that unique invoices rose to 3,462 in November, the high point in the period. Both metrics are historical and should be validated against additional years before using them as seasonal forecasts.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Timing: 60 seconds</a:t>
            </a:r>
          </a:p>
          <a:p/>
          <a:p>
            <a:r>
              <a:t>I recommend three next steps. First, use November's high revenue and invoice volume, alongside the top-products chart, to guide inventory questions—but validate this against additional years because the dataset covers only a little over one year. Second, make December comparisons fair by comparing the first nine days with equivalent periods, or excluding December from complete-month comparisons. Third, investigate negative-quantity and zero-priced transactions to understand whether they reflect returns, cancellations, credit notes, samples, or adjustments. Where possible, report positive recorded sales, negative transactions, and net recorded revenue separately.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Timing: 45 seconds</a:t>
            </a:r>
          </a:p>
          <a:p/>
          <a:p>
            <a:r>
              <a:t>To conclude, this analysis describes historical activity from December 2010 through December 9, 2011. It shows a rise in net recorded revenue toward a November peak and identifies leading products by net quantity. The period is short, December is incomplete, negative transactions and zero prices need context, and the analysis cannot establish causes of sales changes. These findings can identify areas for further investigation, but they should not be treated as a forecast or proof of a recurring seasonal pattern. Transition to the final slide for questions.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Timing: Closing</a:t>
            </a:r>
          </a:p>
          <a:p/>
          <a:p>
            <a:r>
              <a:t>Thank the audience and invite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F33"/>
        </a:solidFill>
        <a:effectLst/>
      </p:bgPr>
    </p:bg>
    <p:spTree>
      <p:nvGrpSpPr>
        <p:cNvPr id="1" name=""/>
        <p:cNvGrpSpPr/>
        <p:nvPr/>
      </p:nvGrpSpPr>
      <p:grpSpPr/>
      <p:sp>
        <p:nvSpPr>
          <p:cNvPr id="2" name="Rounded Rectangle 1"/>
          <p:cNvSpPr/>
          <p:nvPr/>
        </p:nvSpPr>
        <p:spPr>
          <a:xfrm>
            <a:off x="658368" y="694944"/>
            <a:ext cx="91440" cy="5440680"/>
          </a:xfrm>
          <a:prstGeom prst="roundRect">
            <a:avLst>
              <a:gd name="adj" fmla="val 12000"/>
            </a:avLst>
          </a:prstGeom>
          <a:solidFill>
            <a:srgbClr val="30BF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960120"/>
            <a:ext cx="6858000" cy="320040"/>
          </a:xfrm>
          <a:prstGeom prst="rect">
            <a:avLst/>
          </a:prstGeom>
          <a:noFill/>
        </p:spPr>
        <p:txBody>
          <a:bodyPr wrap="square" lIns="45720" rIns="45720" anchor="t">
            <a:spAutoFit/>
          </a:bodyPr>
          <a:lstStyle/>
          <a:p>
            <a:pPr algn="l"/>
            <a:r>
              <a:rPr sz="1200" b="1">
                <a:solidFill>
                  <a:srgbClr val="30BFAD"/>
                </a:solidFill>
                <a:latin typeface="Aptos"/>
              </a:rPr>
              <a:t>DATA ANALYSIS  •  ONLINE RETAIL</a:t>
            </a:r>
            <a:endParaRPr sz="1200" b="1">
              <a:solidFill>
                <a:srgbClr val="30BFAD"/>
              </a:solidFill>
              <a:latin typeface="Aptos"/>
            </a:endParaRPr>
          </a:p>
        </p:txBody>
      </p:sp>
      <p:sp>
        <p:nvSpPr>
          <p:cNvPr id="4" name="TextBox 3"/>
          <p:cNvSpPr txBox="1"/>
          <p:nvPr/>
        </p:nvSpPr>
        <p:spPr>
          <a:xfrm>
            <a:off x="987552" y="1600200"/>
            <a:ext cx="8503920" cy="1325880"/>
          </a:xfrm>
          <a:prstGeom prst="rect">
            <a:avLst/>
          </a:prstGeom>
          <a:noFill/>
        </p:spPr>
        <p:txBody>
          <a:bodyPr wrap="square" lIns="45720" rIns="45720" anchor="t">
            <a:spAutoFit/>
          </a:bodyPr>
          <a:lstStyle/>
          <a:p>
            <a:pPr algn="l"/>
            <a:r>
              <a:rPr sz="3800" b="1">
                <a:solidFill>
                  <a:srgbClr val="F6F8FB"/>
                </a:solidFill>
                <a:latin typeface="Aptos"/>
              </a:rPr>
              <a:t>Online Retail
Analysis</a:t>
            </a:r>
            <a:endParaRPr sz="3800" b="1">
              <a:solidFill>
                <a:srgbClr val="F6F8FB"/>
              </a:solidFill>
              <a:latin typeface="Aptos"/>
            </a:endParaRPr>
          </a:p>
        </p:txBody>
      </p:sp>
      <p:sp>
        <p:nvSpPr>
          <p:cNvPr id="5" name="TextBox 4"/>
          <p:cNvSpPr txBox="1"/>
          <p:nvPr/>
        </p:nvSpPr>
        <p:spPr>
          <a:xfrm>
            <a:off x="1024128" y="3246120"/>
            <a:ext cx="9509760" cy="658368"/>
          </a:xfrm>
          <a:prstGeom prst="rect">
            <a:avLst/>
          </a:prstGeom>
          <a:noFill/>
        </p:spPr>
        <p:txBody>
          <a:bodyPr wrap="square" lIns="45720" rIns="45720" anchor="t">
            <a:spAutoFit/>
          </a:bodyPr>
          <a:lstStyle/>
          <a:p>
            <a:pPr algn="l"/>
            <a:r>
              <a:rPr sz="2100" b="0">
                <a:solidFill>
                  <a:srgbClr val="B8C5D3"/>
                </a:solidFill>
                <a:latin typeface="Aptos"/>
              </a:rPr>
              <a:t>What patterns can historical online retail transactions reveal about product demand and sales performance?</a:t>
            </a:r>
            <a:endParaRPr sz="2100" b="0">
              <a:solidFill>
                <a:srgbClr val="B8C5D3"/>
              </a:solidFill>
              <a:latin typeface="Aptos"/>
            </a:endParaRPr>
          </a:p>
        </p:txBody>
      </p:sp>
      <p:sp>
        <p:nvSpPr>
          <p:cNvPr id="6" name="Rounded Rectangle 5"/>
          <p:cNvSpPr/>
          <p:nvPr/>
        </p:nvSpPr>
        <p:spPr>
          <a:xfrm>
            <a:off x="1024128" y="4251960"/>
            <a:ext cx="5212080" cy="960120"/>
          </a:xfrm>
          <a:prstGeom prst="roundRect">
            <a:avLst>
              <a:gd name="adj" fmla="val 12000"/>
            </a:avLst>
          </a:prstGeom>
          <a:solidFill>
            <a:srgbClr val="1C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4407408"/>
            <a:ext cx="4297680" cy="274320"/>
          </a:xfrm>
          <a:prstGeom prst="rect">
            <a:avLst/>
          </a:prstGeom>
          <a:noFill/>
        </p:spPr>
        <p:txBody>
          <a:bodyPr wrap="square" lIns="45720" rIns="45720" anchor="t">
            <a:spAutoFit/>
          </a:bodyPr>
          <a:lstStyle/>
          <a:p>
            <a:pPr algn="l"/>
            <a:r>
              <a:rPr sz="1000" b="1">
                <a:solidFill>
                  <a:srgbClr val="30BFAD"/>
                </a:solidFill>
                <a:latin typeface="Aptos"/>
              </a:rPr>
              <a:t>TOOLS</a:t>
            </a:r>
            <a:endParaRPr sz="1000" b="1">
              <a:solidFill>
                <a:srgbClr val="30BFAD"/>
              </a:solidFill>
              <a:latin typeface="Aptos"/>
            </a:endParaRPr>
          </a:p>
        </p:txBody>
      </p:sp>
      <p:sp>
        <p:nvSpPr>
          <p:cNvPr id="8" name="TextBox 7"/>
          <p:cNvSpPr txBox="1"/>
          <p:nvPr/>
        </p:nvSpPr>
        <p:spPr>
          <a:xfrm>
            <a:off x="1234440" y="4736592"/>
            <a:ext cx="4663440" cy="292608"/>
          </a:xfrm>
          <a:prstGeom prst="rect">
            <a:avLst/>
          </a:prstGeom>
          <a:noFill/>
        </p:spPr>
        <p:txBody>
          <a:bodyPr wrap="square" lIns="45720" rIns="45720" anchor="t">
            <a:spAutoFit/>
          </a:bodyPr>
          <a:lstStyle/>
          <a:p>
            <a:pPr algn="l"/>
            <a:r>
              <a:rPr sz="1400" b="0">
                <a:solidFill>
                  <a:srgbClr val="F6F8FB"/>
                </a:solidFill>
                <a:latin typeface="Aptos"/>
              </a:rPr>
              <a:t>Python  •  pandas  •  Matplotlib  •  Seaborn</a:t>
            </a:r>
            <a:endParaRPr sz="1400" b="0">
              <a:solidFill>
                <a:srgbClr val="F6F8FB"/>
              </a:solidFill>
              <a:latin typeface="Aptos"/>
            </a:endParaRPr>
          </a:p>
        </p:txBody>
      </p:sp>
      <p:sp>
        <p:nvSpPr>
          <p:cNvPr id="9" name="TextBox 8"/>
          <p:cNvSpPr txBox="1"/>
          <p:nvPr/>
        </p:nvSpPr>
        <p:spPr>
          <a:xfrm>
            <a:off x="1024128" y="5779008"/>
            <a:ext cx="5394960" cy="291465"/>
          </a:xfrm>
          <a:prstGeom prst="rect">
            <a:avLst/>
          </a:prstGeom>
          <a:noFill/>
        </p:spPr>
        <p:txBody>
          <a:bodyPr wrap="square" lIns="45720" rIns="45720" anchor="t">
            <a:spAutoFit/>
          </a:bodyPr>
          <a:lstStyle/>
          <a:p>
            <a:pPr algn="l"/>
            <a:r>
              <a:rPr sz="1300" b="0">
                <a:solidFill>
                  <a:srgbClr val="B8C5D3"/>
                </a:solidFill>
                <a:latin typeface="Aptos"/>
              </a:rPr>
              <a:t>Presented by: </a:t>
            </a:r>
            <a:r>
              <a:rPr lang="en-US" sz="1300" b="0">
                <a:solidFill>
                  <a:srgbClr val="B8C5D3"/>
                </a:solidFill>
                <a:latin typeface="Aptos"/>
              </a:rPr>
              <a:t>Gaurab Ghale</a:t>
            </a:r>
            <a:endParaRPr lang="en-US" sz="1300" b="0">
              <a:solidFill>
                <a:srgbClr val="B8C5D3"/>
              </a:solidFill>
              <a:latin typeface="Aptos"/>
            </a:endParaRPr>
          </a:p>
        </p:txBody>
      </p:sp>
      <p:sp>
        <p:nvSpPr>
          <p:cNvPr id="10" name="TextBox 9"/>
          <p:cNvSpPr txBox="1"/>
          <p:nvPr/>
        </p:nvSpPr>
        <p:spPr>
          <a:xfrm>
            <a:off x="11109960" y="6473952"/>
            <a:ext cx="548640" cy="182880"/>
          </a:xfrm>
          <a:prstGeom prst="rect">
            <a:avLst/>
          </a:prstGeom>
          <a:noFill/>
        </p:spPr>
        <p:txBody>
          <a:bodyPr wrap="square" lIns="45720" rIns="45720" anchor="t">
            <a:spAutoFit/>
          </a:bodyPr>
          <a:lstStyle/>
          <a:p>
            <a:pPr algn="r"/>
            <a:r>
              <a:rPr sz="900" b="0">
                <a:solidFill>
                  <a:srgbClr val="B8C5D3"/>
                </a:solidFill>
                <a:latin typeface="Aptos"/>
              </a:rPr>
              <a:t>01 / 07</a:t>
            </a:r>
            <a:endParaRPr sz="900" b="0">
              <a:solidFill>
                <a:srgbClr val="B8C5D3"/>
              </a:solidFill>
              <a:latin typeface="Apto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11F33"/>
        </a:solidFill>
        <a:effectLst/>
      </p:bgPr>
    </p:bg>
    <p:spTree>
      <p:nvGrpSpPr>
        <p:cNvPr id="1" name=""/>
        <p:cNvGrpSpPr/>
        <p:nvPr/>
      </p:nvGrpSpPr>
      <p:grpSpPr/>
      <p:sp>
        <p:nvSpPr>
          <p:cNvPr id="2" name="TextBox 1"/>
          <p:cNvSpPr txBox="1"/>
          <p:nvPr/>
        </p:nvSpPr>
        <p:spPr>
          <a:xfrm>
            <a:off x="530352" y="246888"/>
            <a:ext cx="5486400" cy="256032"/>
          </a:xfrm>
          <a:prstGeom prst="rect">
            <a:avLst/>
          </a:prstGeom>
          <a:noFill/>
        </p:spPr>
        <p:txBody>
          <a:bodyPr wrap="square" lIns="45720" rIns="45720" anchor="t">
            <a:spAutoFit/>
          </a:bodyPr>
          <a:lstStyle/>
          <a:p>
            <a:pPr algn="l"/>
            <a:r>
              <a:rPr sz="1000" b="1">
                <a:solidFill>
                  <a:srgbClr val="30BFAD"/>
                </a:solidFill>
                <a:latin typeface="Aptos"/>
              </a:rPr>
              <a:t>01  |  DATASET &amp; METHOD</a:t>
            </a:r>
            <a:endParaRPr sz="1000" b="1">
              <a:solidFill>
                <a:srgbClr val="30BFAD"/>
              </a:solidFill>
              <a:latin typeface="Aptos"/>
            </a:endParaRPr>
          </a:p>
        </p:txBody>
      </p:sp>
      <p:sp>
        <p:nvSpPr>
          <p:cNvPr id="3" name="TextBox 2"/>
          <p:cNvSpPr txBox="1"/>
          <p:nvPr/>
        </p:nvSpPr>
        <p:spPr>
          <a:xfrm>
            <a:off x="530352" y="566928"/>
            <a:ext cx="10972800" cy="530352"/>
          </a:xfrm>
          <a:prstGeom prst="rect">
            <a:avLst/>
          </a:prstGeom>
          <a:noFill/>
        </p:spPr>
        <p:txBody>
          <a:bodyPr wrap="square" lIns="45720" rIns="45720" anchor="t">
            <a:spAutoFit/>
          </a:bodyPr>
          <a:lstStyle/>
          <a:p>
            <a:pPr algn="l"/>
            <a:r>
              <a:rPr sz="2700" b="1">
                <a:solidFill>
                  <a:srgbClr val="F6F8FB"/>
                </a:solidFill>
                <a:latin typeface="Aptos"/>
              </a:rPr>
              <a:t>Dataset and cleaning decisions</a:t>
            </a:r>
            <a:endParaRPr sz="2700" b="1">
              <a:solidFill>
                <a:srgbClr val="F6F8FB"/>
              </a:solidFill>
              <a:latin typeface="Aptos"/>
            </a:endParaRPr>
          </a:p>
        </p:txBody>
      </p:sp>
      <p:sp>
        <p:nvSpPr>
          <p:cNvPr id="4" name="Rectangle 3"/>
          <p:cNvSpPr/>
          <p:nvPr/>
        </p:nvSpPr>
        <p:spPr>
          <a:xfrm>
            <a:off x="530352" y="1179576"/>
            <a:ext cx="11109960" cy="22860"/>
          </a:xfrm>
          <a:prstGeom prst="rect">
            <a:avLst/>
          </a:prstGeom>
          <a:solidFill>
            <a:srgbClr val="1C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09960" y="6473952"/>
            <a:ext cx="548640" cy="182880"/>
          </a:xfrm>
          <a:prstGeom prst="rect">
            <a:avLst/>
          </a:prstGeom>
          <a:noFill/>
        </p:spPr>
        <p:txBody>
          <a:bodyPr wrap="square" lIns="45720" rIns="45720" anchor="t">
            <a:spAutoFit/>
          </a:bodyPr>
          <a:lstStyle/>
          <a:p>
            <a:pPr algn="r"/>
            <a:r>
              <a:rPr sz="900" b="0">
                <a:solidFill>
                  <a:srgbClr val="B8C5D3"/>
                </a:solidFill>
                <a:latin typeface="Aptos"/>
              </a:rPr>
              <a:t>02 / 07</a:t>
            </a:r>
            <a:endParaRPr sz="900" b="0">
              <a:solidFill>
                <a:srgbClr val="B8C5D3"/>
              </a:solidFill>
              <a:latin typeface="Aptos"/>
            </a:endParaRPr>
          </a:p>
        </p:txBody>
      </p:sp>
      <p:sp>
        <p:nvSpPr>
          <p:cNvPr id="6" name="Rounded Rectangle 5"/>
          <p:cNvSpPr/>
          <p:nvPr/>
        </p:nvSpPr>
        <p:spPr>
          <a:xfrm>
            <a:off x="530352" y="1417320"/>
            <a:ext cx="5166360" cy="4553712"/>
          </a:xfrm>
          <a:prstGeom prst="roundRect">
            <a:avLst>
              <a:gd name="adj" fmla="val 12000"/>
            </a:avLst>
          </a:prstGeom>
          <a:solidFill>
            <a:srgbClr val="1C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64208"/>
            <a:ext cx="4526280" cy="256032"/>
          </a:xfrm>
          <a:prstGeom prst="rect">
            <a:avLst/>
          </a:prstGeom>
          <a:noFill/>
        </p:spPr>
        <p:txBody>
          <a:bodyPr wrap="square" lIns="45720" rIns="45720" anchor="t">
            <a:spAutoFit/>
          </a:bodyPr>
          <a:lstStyle/>
          <a:p>
            <a:pPr algn="l"/>
            <a:r>
              <a:rPr sz="1100" b="1">
                <a:solidFill>
                  <a:srgbClr val="30BFAD"/>
                </a:solidFill>
                <a:latin typeface="Aptos"/>
              </a:rPr>
              <a:t>DATASET SNAPSHOT</a:t>
            </a:r>
            <a:endParaRPr sz="1100" b="1">
              <a:solidFill>
                <a:srgbClr val="30BFAD"/>
              </a:solidFill>
              <a:latin typeface="Aptos"/>
            </a:endParaRPr>
          </a:p>
        </p:txBody>
      </p:sp>
      <p:sp>
        <p:nvSpPr>
          <p:cNvPr id="8" name="TextBox 7"/>
          <p:cNvSpPr txBox="1"/>
          <p:nvPr/>
        </p:nvSpPr>
        <p:spPr>
          <a:xfrm>
            <a:off x="822960" y="2011680"/>
            <a:ext cx="2103120" cy="384048"/>
          </a:xfrm>
          <a:prstGeom prst="rect">
            <a:avLst/>
          </a:prstGeom>
          <a:noFill/>
        </p:spPr>
        <p:txBody>
          <a:bodyPr wrap="square" lIns="45720" rIns="45720" anchor="t">
            <a:spAutoFit/>
          </a:bodyPr>
          <a:lstStyle/>
          <a:p>
            <a:pPr algn="l"/>
            <a:r>
              <a:rPr sz="2400" b="1">
                <a:solidFill>
                  <a:srgbClr val="F6F8FB"/>
                </a:solidFill>
                <a:latin typeface="Aptos"/>
              </a:rPr>
              <a:t>541,909</a:t>
            </a:r>
            <a:endParaRPr sz="2400" b="1">
              <a:solidFill>
                <a:srgbClr val="F6F8FB"/>
              </a:solidFill>
              <a:latin typeface="Aptos"/>
            </a:endParaRPr>
          </a:p>
        </p:txBody>
      </p:sp>
      <p:sp>
        <p:nvSpPr>
          <p:cNvPr id="9" name="TextBox 8"/>
          <p:cNvSpPr txBox="1"/>
          <p:nvPr/>
        </p:nvSpPr>
        <p:spPr>
          <a:xfrm>
            <a:off x="822960" y="2404872"/>
            <a:ext cx="2148840" cy="310896"/>
          </a:xfrm>
          <a:prstGeom prst="rect">
            <a:avLst/>
          </a:prstGeom>
          <a:noFill/>
        </p:spPr>
        <p:txBody>
          <a:bodyPr wrap="square" lIns="45720" rIns="45720" anchor="t">
            <a:spAutoFit/>
          </a:bodyPr>
          <a:lstStyle/>
          <a:p>
            <a:pPr algn="l"/>
            <a:r>
              <a:rPr sz="1100" b="0">
                <a:solidFill>
                  <a:srgbClr val="B8C5D3"/>
                </a:solidFill>
                <a:latin typeface="Aptos"/>
              </a:rPr>
              <a:t>original rows</a:t>
            </a:r>
            <a:endParaRPr sz="1100" b="0">
              <a:solidFill>
                <a:srgbClr val="B8C5D3"/>
              </a:solidFill>
              <a:latin typeface="Aptos"/>
            </a:endParaRPr>
          </a:p>
        </p:txBody>
      </p:sp>
      <p:sp>
        <p:nvSpPr>
          <p:cNvPr id="10" name="TextBox 9"/>
          <p:cNvSpPr txBox="1"/>
          <p:nvPr/>
        </p:nvSpPr>
        <p:spPr>
          <a:xfrm>
            <a:off x="3063240" y="2011680"/>
            <a:ext cx="2148840" cy="384048"/>
          </a:xfrm>
          <a:prstGeom prst="rect">
            <a:avLst/>
          </a:prstGeom>
          <a:noFill/>
        </p:spPr>
        <p:txBody>
          <a:bodyPr wrap="square" lIns="45720" rIns="45720" anchor="t">
            <a:spAutoFit/>
          </a:bodyPr>
          <a:lstStyle/>
          <a:p>
            <a:pPr algn="l"/>
            <a:r>
              <a:rPr sz="2200" b="1">
                <a:solidFill>
                  <a:srgbClr val="F6F8FB"/>
                </a:solidFill>
                <a:latin typeface="Aptos"/>
              </a:rPr>
              <a:t>8 columns</a:t>
            </a:r>
            <a:endParaRPr sz="2200" b="1">
              <a:solidFill>
                <a:srgbClr val="F6F8FB"/>
              </a:solidFill>
              <a:latin typeface="Aptos"/>
            </a:endParaRPr>
          </a:p>
        </p:txBody>
      </p:sp>
      <p:sp>
        <p:nvSpPr>
          <p:cNvPr id="11" name="TextBox 10"/>
          <p:cNvSpPr txBox="1"/>
          <p:nvPr/>
        </p:nvSpPr>
        <p:spPr>
          <a:xfrm>
            <a:off x="3063240" y="2404872"/>
            <a:ext cx="2148840" cy="310896"/>
          </a:xfrm>
          <a:prstGeom prst="rect">
            <a:avLst/>
          </a:prstGeom>
          <a:noFill/>
        </p:spPr>
        <p:txBody>
          <a:bodyPr wrap="square" lIns="45720" rIns="45720" anchor="t">
            <a:spAutoFit/>
          </a:bodyPr>
          <a:lstStyle/>
          <a:p>
            <a:pPr algn="l"/>
            <a:r>
              <a:rPr sz="1100" b="0">
                <a:solidFill>
                  <a:srgbClr val="B8C5D3"/>
                </a:solidFill>
                <a:latin typeface="Aptos"/>
              </a:rPr>
              <a:t>transaction fields</a:t>
            </a:r>
            <a:endParaRPr sz="1100" b="0">
              <a:solidFill>
                <a:srgbClr val="B8C5D3"/>
              </a:solidFill>
              <a:latin typeface="Aptos"/>
            </a:endParaRPr>
          </a:p>
        </p:txBody>
      </p:sp>
      <p:sp>
        <p:nvSpPr>
          <p:cNvPr id="12" name="TextBox 11"/>
          <p:cNvSpPr txBox="1"/>
          <p:nvPr/>
        </p:nvSpPr>
        <p:spPr>
          <a:xfrm>
            <a:off x="822960" y="2807208"/>
            <a:ext cx="2103120" cy="384048"/>
          </a:xfrm>
          <a:prstGeom prst="rect">
            <a:avLst/>
          </a:prstGeom>
          <a:noFill/>
        </p:spPr>
        <p:txBody>
          <a:bodyPr wrap="square" lIns="45720" rIns="45720" anchor="t">
            <a:spAutoFit/>
          </a:bodyPr>
          <a:lstStyle/>
          <a:p>
            <a:pPr algn="l"/>
            <a:r>
              <a:rPr sz="2200" b="1">
                <a:solidFill>
                  <a:srgbClr val="F6BE4D"/>
                </a:solidFill>
                <a:latin typeface="Aptos"/>
              </a:rPr>
              <a:t>5,268</a:t>
            </a:r>
            <a:endParaRPr sz="2200" b="1">
              <a:solidFill>
                <a:srgbClr val="F6BE4D"/>
              </a:solidFill>
              <a:latin typeface="Aptos"/>
            </a:endParaRPr>
          </a:p>
        </p:txBody>
      </p:sp>
      <p:sp>
        <p:nvSpPr>
          <p:cNvPr id="13" name="TextBox 12"/>
          <p:cNvSpPr txBox="1"/>
          <p:nvPr/>
        </p:nvSpPr>
        <p:spPr>
          <a:xfrm>
            <a:off x="822960" y="3182112"/>
            <a:ext cx="2148840" cy="310896"/>
          </a:xfrm>
          <a:prstGeom prst="rect">
            <a:avLst/>
          </a:prstGeom>
          <a:noFill/>
        </p:spPr>
        <p:txBody>
          <a:bodyPr wrap="square" lIns="45720" rIns="45720" anchor="t">
            <a:spAutoFit/>
          </a:bodyPr>
          <a:lstStyle/>
          <a:p>
            <a:pPr algn="l"/>
            <a:r>
              <a:rPr sz="1100" b="0">
                <a:solidFill>
                  <a:srgbClr val="B8C5D3"/>
                </a:solidFill>
                <a:latin typeface="Aptos"/>
              </a:rPr>
              <a:t>duplicates removed</a:t>
            </a:r>
            <a:endParaRPr sz="1100" b="0">
              <a:solidFill>
                <a:srgbClr val="B8C5D3"/>
              </a:solidFill>
              <a:latin typeface="Aptos"/>
            </a:endParaRPr>
          </a:p>
        </p:txBody>
      </p:sp>
      <p:sp>
        <p:nvSpPr>
          <p:cNvPr id="14" name="TextBox 13"/>
          <p:cNvSpPr txBox="1"/>
          <p:nvPr/>
        </p:nvSpPr>
        <p:spPr>
          <a:xfrm>
            <a:off x="3063240" y="2807208"/>
            <a:ext cx="2148840" cy="384048"/>
          </a:xfrm>
          <a:prstGeom prst="rect">
            <a:avLst/>
          </a:prstGeom>
          <a:noFill/>
        </p:spPr>
        <p:txBody>
          <a:bodyPr wrap="square" lIns="45720" rIns="45720" anchor="t">
            <a:spAutoFit/>
          </a:bodyPr>
          <a:lstStyle/>
          <a:p>
            <a:pPr algn="l"/>
            <a:r>
              <a:rPr sz="2200" b="1">
                <a:solidFill>
                  <a:srgbClr val="F6BE4D"/>
                </a:solidFill>
                <a:latin typeface="Aptos"/>
              </a:rPr>
              <a:t>536,639</a:t>
            </a:r>
            <a:endParaRPr sz="2200" b="1">
              <a:solidFill>
                <a:srgbClr val="F6BE4D"/>
              </a:solidFill>
              <a:latin typeface="Aptos"/>
            </a:endParaRPr>
          </a:p>
        </p:txBody>
      </p:sp>
      <p:sp>
        <p:nvSpPr>
          <p:cNvPr id="15" name="TextBox 14"/>
          <p:cNvSpPr txBox="1"/>
          <p:nvPr/>
        </p:nvSpPr>
        <p:spPr>
          <a:xfrm>
            <a:off x="3063240" y="3182112"/>
            <a:ext cx="2148840" cy="310896"/>
          </a:xfrm>
          <a:prstGeom prst="rect">
            <a:avLst/>
          </a:prstGeom>
          <a:noFill/>
        </p:spPr>
        <p:txBody>
          <a:bodyPr wrap="square" lIns="45720" rIns="45720" anchor="t">
            <a:spAutoFit/>
          </a:bodyPr>
          <a:lstStyle/>
          <a:p>
            <a:pPr algn="l"/>
            <a:r>
              <a:rPr sz="1100" b="0">
                <a:solidFill>
                  <a:srgbClr val="B8C5D3"/>
                </a:solidFill>
                <a:latin typeface="Aptos"/>
              </a:rPr>
              <a:t>rows after cleaning</a:t>
            </a:r>
            <a:endParaRPr sz="1100" b="0">
              <a:solidFill>
                <a:srgbClr val="B8C5D3"/>
              </a:solidFill>
              <a:latin typeface="Aptos"/>
            </a:endParaRPr>
          </a:p>
        </p:txBody>
      </p:sp>
      <p:sp>
        <p:nvSpPr>
          <p:cNvPr id="16" name="Rectangle 15"/>
          <p:cNvSpPr/>
          <p:nvPr/>
        </p:nvSpPr>
        <p:spPr>
          <a:xfrm>
            <a:off x="822960" y="3584448"/>
            <a:ext cx="4553712" cy="22860"/>
          </a:xfrm>
          <a:prstGeom prst="rect">
            <a:avLst/>
          </a:prstGeom>
          <a:solidFill>
            <a:srgbClr val="475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767328"/>
            <a:ext cx="4526280" cy="274320"/>
          </a:xfrm>
          <a:prstGeom prst="rect">
            <a:avLst/>
          </a:prstGeom>
          <a:noFill/>
        </p:spPr>
        <p:txBody>
          <a:bodyPr wrap="square" lIns="45720" rIns="45720" anchor="t">
            <a:spAutoFit/>
          </a:bodyPr>
          <a:lstStyle/>
          <a:p>
            <a:pPr algn="l"/>
            <a:r>
              <a:rPr sz="1000" b="1">
                <a:solidFill>
                  <a:srgbClr val="30BFAD"/>
                </a:solidFill>
                <a:latin typeface="Aptos"/>
              </a:rPr>
              <a:t>CLEANING DECISIONS</a:t>
            </a:r>
            <a:endParaRPr sz="1000" b="1">
              <a:solidFill>
                <a:srgbClr val="30BFAD"/>
              </a:solidFill>
              <a:latin typeface="Aptos"/>
            </a:endParaRPr>
          </a:p>
        </p:txBody>
      </p:sp>
      <p:sp>
        <p:nvSpPr>
          <p:cNvPr id="18" name="TextBox 17"/>
          <p:cNvSpPr txBox="1"/>
          <p:nvPr/>
        </p:nvSpPr>
        <p:spPr>
          <a:xfrm>
            <a:off x="841248" y="4114800"/>
            <a:ext cx="4498848" cy="1014730"/>
          </a:xfrm>
          <a:prstGeom prst="rect">
            <a:avLst/>
          </a:prstGeom>
          <a:noFill/>
        </p:spPr>
        <p:txBody>
          <a:bodyPr wrap="square" lIns="45720" rIns="45720" anchor="t">
            <a:spAutoFit/>
          </a:bodyPr>
          <a:lstStyle/>
          <a:p>
            <a:pPr algn="l"/>
            <a:r>
              <a:rPr sz="1200" b="0">
                <a:solidFill>
                  <a:srgbClr val="F6F8FB"/>
                </a:solidFill>
                <a:latin typeface="Aptos"/>
              </a:rPr>
              <a:t>• Filled 1,454 missing descriptions with “Unknown” kept missing IDs.
• Converted InvoiceDate to datetime and removed duplicate rows.
• Retained negative quantities; removed 2 negative-price rows.
• Kept zero-price transactions for investigation.</a:t>
            </a:r>
            <a:endParaRPr sz="1200" b="0">
              <a:solidFill>
                <a:srgbClr val="F6F8FB"/>
              </a:solidFill>
              <a:latin typeface="Aptos"/>
            </a:endParaRPr>
          </a:p>
        </p:txBody>
      </p:sp>
      <p:sp>
        <p:nvSpPr>
          <p:cNvPr id="19" name="Rounded Rectangle 18"/>
          <p:cNvSpPr/>
          <p:nvPr/>
        </p:nvSpPr>
        <p:spPr>
          <a:xfrm>
            <a:off x="5916168" y="1417320"/>
            <a:ext cx="5742432" cy="2221992"/>
          </a:xfrm>
          <a:prstGeom prst="roundRect">
            <a:avLst>
              <a:gd name="adj" fmla="val 12000"/>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44768" y="1490472"/>
            <a:ext cx="5303520" cy="228600"/>
          </a:xfrm>
          <a:prstGeom prst="rect">
            <a:avLst/>
          </a:prstGeom>
          <a:noFill/>
        </p:spPr>
        <p:txBody>
          <a:bodyPr wrap="square" lIns="45720" rIns="45720" anchor="t">
            <a:spAutoFit/>
          </a:bodyPr>
          <a:lstStyle/>
          <a:p>
            <a:pPr algn="l"/>
            <a:r>
              <a:rPr sz="1000" b="1">
                <a:solidFill>
                  <a:srgbClr val="111F33"/>
                </a:solidFill>
                <a:latin typeface="Aptos"/>
              </a:rPr>
              <a:t>QUANTITY &amp; UNIT PRICE DISTRIBUTIONS</a:t>
            </a:r>
            <a:endParaRPr sz="1000" b="1">
              <a:solidFill>
                <a:srgbClr val="111F33"/>
              </a:solidFill>
              <a:latin typeface="Aptos"/>
            </a:endParaRPr>
          </a:p>
        </p:txBody>
      </p:sp>
      <p:pic>
        <p:nvPicPr>
          <p:cNvPr id="21" name="Picture 20" descr="quantity_unitprice_distribution.png"/>
          <p:cNvPicPr>
            <a:picLocks noChangeAspect="1"/>
          </p:cNvPicPr>
          <p:nvPr/>
        </p:nvPicPr>
        <p:blipFill>
          <a:blip r:embed="rId1"/>
          <a:stretch>
            <a:fillRect/>
          </a:stretch>
        </p:blipFill>
        <p:spPr>
          <a:xfrm>
            <a:off x="6563672" y="1719072"/>
            <a:ext cx="4447422" cy="1828800"/>
          </a:xfrm>
          <a:prstGeom prst="rect">
            <a:avLst/>
          </a:prstGeom>
        </p:spPr>
      </p:pic>
      <p:sp>
        <p:nvSpPr>
          <p:cNvPr id="22" name="Rounded Rectangle 21"/>
          <p:cNvSpPr/>
          <p:nvPr/>
        </p:nvSpPr>
        <p:spPr>
          <a:xfrm>
            <a:off x="5916168" y="3776472"/>
            <a:ext cx="5742432" cy="2194560"/>
          </a:xfrm>
          <a:prstGeom prst="roundRect">
            <a:avLst>
              <a:gd name="adj" fmla="val 12000"/>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44768" y="3840480"/>
            <a:ext cx="5303520" cy="228600"/>
          </a:xfrm>
          <a:prstGeom prst="rect">
            <a:avLst/>
          </a:prstGeom>
          <a:noFill/>
        </p:spPr>
        <p:txBody>
          <a:bodyPr wrap="square" lIns="45720" rIns="45720" anchor="t">
            <a:spAutoFit/>
          </a:bodyPr>
          <a:lstStyle/>
          <a:p>
            <a:pPr algn="l"/>
            <a:r>
              <a:rPr sz="1000" b="1">
                <a:solidFill>
                  <a:srgbClr val="111F33"/>
                </a:solidFill>
                <a:latin typeface="Aptos"/>
              </a:rPr>
              <a:t>CORRELATION HEATMAP</a:t>
            </a:r>
            <a:endParaRPr sz="1000" b="1">
              <a:solidFill>
                <a:srgbClr val="111F33"/>
              </a:solidFill>
              <a:latin typeface="Aptos"/>
            </a:endParaRPr>
          </a:p>
        </p:txBody>
      </p:sp>
      <p:pic>
        <p:nvPicPr>
          <p:cNvPr id="24" name="Picture 23" descr="correlation_heatmap.png"/>
          <p:cNvPicPr>
            <a:picLocks noChangeAspect="1"/>
          </p:cNvPicPr>
          <p:nvPr/>
        </p:nvPicPr>
        <p:blipFill>
          <a:blip r:embed="rId2"/>
          <a:stretch>
            <a:fillRect/>
          </a:stretch>
        </p:blipFill>
        <p:spPr>
          <a:xfrm>
            <a:off x="7641669" y="4087368"/>
            <a:ext cx="2291429" cy="181051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11F33"/>
        </a:solidFill>
        <a:effectLst/>
      </p:bgPr>
    </p:bg>
    <p:spTree>
      <p:nvGrpSpPr>
        <p:cNvPr id="1" name=""/>
        <p:cNvGrpSpPr/>
        <p:nvPr/>
      </p:nvGrpSpPr>
      <p:grpSpPr/>
      <p:sp>
        <p:nvSpPr>
          <p:cNvPr id="2" name="TextBox 1"/>
          <p:cNvSpPr txBox="1"/>
          <p:nvPr/>
        </p:nvSpPr>
        <p:spPr>
          <a:xfrm>
            <a:off x="530352" y="246888"/>
            <a:ext cx="5486400" cy="256032"/>
          </a:xfrm>
          <a:prstGeom prst="rect">
            <a:avLst/>
          </a:prstGeom>
          <a:noFill/>
        </p:spPr>
        <p:txBody>
          <a:bodyPr wrap="square" lIns="45720" rIns="45720" anchor="t">
            <a:spAutoFit/>
          </a:bodyPr>
          <a:lstStyle/>
          <a:p>
            <a:pPr algn="l"/>
            <a:r>
              <a:rPr sz="1000" b="1">
                <a:solidFill>
                  <a:srgbClr val="30BFAD"/>
                </a:solidFill>
                <a:latin typeface="Aptos"/>
              </a:rPr>
              <a:t>02  |  SALES TRENDS</a:t>
            </a:r>
            <a:endParaRPr sz="1000" b="1">
              <a:solidFill>
                <a:srgbClr val="30BFAD"/>
              </a:solidFill>
              <a:latin typeface="Aptos"/>
            </a:endParaRPr>
          </a:p>
        </p:txBody>
      </p:sp>
      <p:sp>
        <p:nvSpPr>
          <p:cNvPr id="3" name="TextBox 2"/>
          <p:cNvSpPr txBox="1"/>
          <p:nvPr/>
        </p:nvSpPr>
        <p:spPr>
          <a:xfrm>
            <a:off x="530352" y="566928"/>
            <a:ext cx="10972800" cy="530352"/>
          </a:xfrm>
          <a:prstGeom prst="rect">
            <a:avLst/>
          </a:prstGeom>
          <a:noFill/>
        </p:spPr>
        <p:txBody>
          <a:bodyPr wrap="square" lIns="45720" rIns="45720" anchor="t">
            <a:spAutoFit/>
          </a:bodyPr>
          <a:lstStyle/>
          <a:p>
            <a:pPr algn="l"/>
            <a:r>
              <a:rPr sz="2700" b="1">
                <a:solidFill>
                  <a:srgbClr val="F6F8FB"/>
                </a:solidFill>
                <a:latin typeface="Aptos"/>
              </a:rPr>
              <a:t>Monthly revenue and order activity</a:t>
            </a:r>
            <a:endParaRPr sz="2700" b="1">
              <a:solidFill>
                <a:srgbClr val="F6F8FB"/>
              </a:solidFill>
              <a:latin typeface="Aptos"/>
            </a:endParaRPr>
          </a:p>
        </p:txBody>
      </p:sp>
      <p:sp>
        <p:nvSpPr>
          <p:cNvPr id="4" name="Rectangle 3"/>
          <p:cNvSpPr/>
          <p:nvPr/>
        </p:nvSpPr>
        <p:spPr>
          <a:xfrm>
            <a:off x="530352" y="1179576"/>
            <a:ext cx="11109960" cy="22860"/>
          </a:xfrm>
          <a:prstGeom prst="rect">
            <a:avLst/>
          </a:prstGeom>
          <a:solidFill>
            <a:srgbClr val="1C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09960" y="6473952"/>
            <a:ext cx="548640" cy="182880"/>
          </a:xfrm>
          <a:prstGeom prst="rect">
            <a:avLst/>
          </a:prstGeom>
          <a:noFill/>
        </p:spPr>
        <p:txBody>
          <a:bodyPr wrap="square" lIns="45720" rIns="45720" anchor="t">
            <a:spAutoFit/>
          </a:bodyPr>
          <a:lstStyle/>
          <a:p>
            <a:pPr algn="r"/>
            <a:r>
              <a:rPr sz="900" b="0">
                <a:solidFill>
                  <a:srgbClr val="B8C5D3"/>
                </a:solidFill>
                <a:latin typeface="Aptos"/>
              </a:rPr>
              <a:t>03 / 07</a:t>
            </a:r>
            <a:endParaRPr sz="900" b="0">
              <a:solidFill>
                <a:srgbClr val="B8C5D3"/>
              </a:solidFill>
              <a:latin typeface="Aptos"/>
            </a:endParaRPr>
          </a:p>
        </p:txBody>
      </p:sp>
      <p:sp>
        <p:nvSpPr>
          <p:cNvPr id="6" name="Rounded Rectangle 5"/>
          <p:cNvSpPr/>
          <p:nvPr/>
        </p:nvSpPr>
        <p:spPr>
          <a:xfrm>
            <a:off x="530352" y="1417320"/>
            <a:ext cx="7498079" cy="4553712"/>
          </a:xfrm>
          <a:prstGeom prst="roundRect">
            <a:avLst>
              <a:gd name="adj" fmla="val 12000"/>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monthly_revenue_trend.png"/>
          <p:cNvPicPr>
            <a:picLocks noChangeAspect="1"/>
          </p:cNvPicPr>
          <p:nvPr/>
        </p:nvPicPr>
        <p:blipFill>
          <a:blip r:embed="rId1"/>
          <a:stretch>
            <a:fillRect/>
          </a:stretch>
        </p:blipFill>
        <p:spPr>
          <a:xfrm>
            <a:off x="658367" y="2196050"/>
            <a:ext cx="7242048" cy="2977962"/>
          </a:xfrm>
          <a:prstGeom prst="rect">
            <a:avLst/>
          </a:prstGeom>
        </p:spPr>
      </p:pic>
      <p:sp>
        <p:nvSpPr>
          <p:cNvPr id="8" name="Rounded Rectangle 7"/>
          <p:cNvSpPr/>
          <p:nvPr/>
        </p:nvSpPr>
        <p:spPr>
          <a:xfrm>
            <a:off x="8247888" y="1417320"/>
            <a:ext cx="3410712" cy="4553712"/>
          </a:xfrm>
          <a:prstGeom prst="roundRect">
            <a:avLst>
              <a:gd name="adj" fmla="val 12000"/>
            </a:avLst>
          </a:prstGeom>
          <a:solidFill>
            <a:srgbClr val="1C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49640" y="1700784"/>
            <a:ext cx="2788920" cy="256032"/>
          </a:xfrm>
          <a:prstGeom prst="rect">
            <a:avLst/>
          </a:prstGeom>
          <a:noFill/>
        </p:spPr>
        <p:txBody>
          <a:bodyPr wrap="square" lIns="45720" rIns="45720" anchor="t">
            <a:spAutoFit/>
          </a:bodyPr>
          <a:lstStyle/>
          <a:p>
            <a:pPr algn="l"/>
            <a:r>
              <a:rPr sz="1000" b="1">
                <a:solidFill>
                  <a:srgbClr val="30BFAD"/>
                </a:solidFill>
                <a:latin typeface="Aptos"/>
              </a:rPr>
              <a:t>KEY PATTERN</a:t>
            </a:r>
            <a:endParaRPr sz="1000" b="1">
              <a:solidFill>
                <a:srgbClr val="30BFAD"/>
              </a:solidFill>
              <a:latin typeface="Aptos"/>
            </a:endParaRPr>
          </a:p>
        </p:txBody>
      </p:sp>
      <p:sp>
        <p:nvSpPr>
          <p:cNvPr id="10" name="TextBox 9"/>
          <p:cNvSpPr txBox="1"/>
          <p:nvPr/>
        </p:nvSpPr>
        <p:spPr>
          <a:xfrm>
            <a:off x="8522208" y="1949831"/>
            <a:ext cx="2788920" cy="704088"/>
          </a:xfrm>
          <a:prstGeom prst="rect">
            <a:avLst/>
          </a:prstGeom>
          <a:noFill/>
        </p:spPr>
        <p:txBody>
          <a:bodyPr wrap="square" lIns="45720" rIns="45720" anchor="t">
            <a:spAutoFit/>
          </a:bodyPr>
          <a:lstStyle/>
          <a:p>
            <a:pPr algn="l"/>
            <a:r>
              <a:rPr sz="2100" b="1">
                <a:solidFill>
                  <a:srgbClr val="F6F8FB"/>
                </a:solidFill>
                <a:latin typeface="Aptos"/>
              </a:rPr>
              <a:t>Strong rise into
November 2011</a:t>
            </a:r>
            <a:endParaRPr sz="2100" b="1">
              <a:solidFill>
                <a:srgbClr val="F6F8FB"/>
              </a:solidFill>
              <a:latin typeface="Aptos"/>
            </a:endParaRPr>
          </a:p>
        </p:txBody>
      </p:sp>
      <p:sp>
        <p:nvSpPr>
          <p:cNvPr id="11" name="TextBox 10"/>
          <p:cNvSpPr txBox="1"/>
          <p:nvPr/>
        </p:nvSpPr>
        <p:spPr>
          <a:xfrm>
            <a:off x="8549640" y="2679192"/>
            <a:ext cx="2743200" cy="658368"/>
          </a:xfrm>
          <a:prstGeom prst="rect">
            <a:avLst/>
          </a:prstGeom>
          <a:noFill/>
        </p:spPr>
        <p:txBody>
          <a:bodyPr wrap="square" lIns="45720" rIns="45720" anchor="t">
            <a:spAutoFit/>
          </a:bodyPr>
          <a:lstStyle/>
          <a:p>
            <a:pPr algn="l"/>
            <a:r>
              <a:rPr sz="2800" b="1">
                <a:solidFill>
                  <a:srgbClr val="F6BE4D"/>
                </a:solidFill>
                <a:latin typeface="Aptos"/>
              </a:rPr>
              <a:t>£1.46M</a:t>
            </a:r>
            <a:endParaRPr sz="2800" b="1">
              <a:solidFill>
                <a:srgbClr val="F6BE4D"/>
              </a:solidFill>
              <a:latin typeface="Aptos"/>
            </a:endParaRPr>
          </a:p>
        </p:txBody>
      </p:sp>
      <p:sp>
        <p:nvSpPr>
          <p:cNvPr id="12" name="TextBox 11"/>
          <p:cNvSpPr txBox="1"/>
          <p:nvPr/>
        </p:nvSpPr>
        <p:spPr>
          <a:xfrm>
            <a:off x="8568055" y="3136138"/>
            <a:ext cx="2743200" cy="402336"/>
          </a:xfrm>
          <a:prstGeom prst="rect">
            <a:avLst/>
          </a:prstGeom>
          <a:noFill/>
        </p:spPr>
        <p:txBody>
          <a:bodyPr wrap="square" lIns="45720" rIns="45720" anchor="t">
            <a:spAutoFit/>
          </a:bodyPr>
          <a:lstStyle/>
          <a:p>
            <a:pPr algn="l"/>
            <a:r>
              <a:rPr sz="1200" b="0">
                <a:solidFill>
                  <a:srgbClr val="B8C5D3"/>
                </a:solidFill>
                <a:latin typeface="Aptos"/>
              </a:rPr>
              <a:t>highest monthly net recorded revenue</a:t>
            </a:r>
            <a:endParaRPr sz="1200" b="0">
              <a:solidFill>
                <a:srgbClr val="B8C5D3"/>
              </a:solidFill>
              <a:latin typeface="Aptos"/>
            </a:endParaRPr>
          </a:p>
        </p:txBody>
      </p:sp>
      <p:sp>
        <p:nvSpPr>
          <p:cNvPr id="13" name="Rectangle 12"/>
          <p:cNvSpPr/>
          <p:nvPr/>
        </p:nvSpPr>
        <p:spPr>
          <a:xfrm>
            <a:off x="8559165" y="3407410"/>
            <a:ext cx="2788920" cy="22860"/>
          </a:xfrm>
          <a:prstGeom prst="rect">
            <a:avLst/>
          </a:prstGeom>
          <a:solidFill>
            <a:srgbClr val="475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59165" y="3500247"/>
            <a:ext cx="2743200" cy="338328"/>
          </a:xfrm>
          <a:prstGeom prst="rect">
            <a:avLst/>
          </a:prstGeom>
          <a:noFill/>
        </p:spPr>
        <p:txBody>
          <a:bodyPr wrap="square" lIns="45720" rIns="45720" anchor="t">
            <a:spAutoFit/>
          </a:bodyPr>
          <a:lstStyle/>
          <a:p>
            <a:pPr algn="l"/>
            <a:r>
              <a:rPr sz="1500" b="1">
                <a:solidFill>
                  <a:srgbClr val="F6F8FB"/>
                </a:solidFill>
                <a:latin typeface="Aptos"/>
              </a:rPr>
              <a:t>December is incomplete</a:t>
            </a:r>
            <a:endParaRPr sz="1500" b="1">
              <a:solidFill>
                <a:srgbClr val="F6F8FB"/>
              </a:solidFill>
              <a:latin typeface="Aptos"/>
            </a:endParaRPr>
          </a:p>
        </p:txBody>
      </p:sp>
      <p:sp>
        <p:nvSpPr>
          <p:cNvPr id="15" name="TextBox 14"/>
          <p:cNvSpPr txBox="1"/>
          <p:nvPr/>
        </p:nvSpPr>
        <p:spPr>
          <a:xfrm>
            <a:off x="8549640" y="3803523"/>
            <a:ext cx="2761488" cy="310896"/>
          </a:xfrm>
          <a:prstGeom prst="rect">
            <a:avLst/>
          </a:prstGeom>
          <a:noFill/>
        </p:spPr>
        <p:txBody>
          <a:bodyPr wrap="square" lIns="45720" rIns="45720" anchor="t">
            <a:spAutoFit/>
          </a:bodyPr>
          <a:lstStyle/>
          <a:p>
            <a:pPr algn="l"/>
            <a:r>
              <a:rPr sz="1000" b="0">
                <a:solidFill>
                  <a:srgbClr val="B8C5D3"/>
                </a:solidFill>
                <a:latin typeface="Aptos"/>
              </a:rPr>
              <a:t>Data ends Dec 9. Monthly sums include negative transactions, which reduce net recorded revenue.</a:t>
            </a:r>
            <a:endParaRPr sz="1000" b="0">
              <a:solidFill>
                <a:srgbClr val="B8C5D3"/>
              </a:solidFill>
              <a:latin typeface="Aptos"/>
            </a:endParaRPr>
          </a:p>
        </p:txBody>
      </p:sp>
      <p:sp>
        <p:nvSpPr>
          <p:cNvPr id="16" name="TextBox 15"/>
          <p:cNvSpPr txBox="1"/>
          <p:nvPr/>
        </p:nvSpPr>
        <p:spPr>
          <a:xfrm>
            <a:off x="8549640" y="4379849"/>
            <a:ext cx="2743200" cy="201168"/>
          </a:xfrm>
          <a:prstGeom prst="rect">
            <a:avLst/>
          </a:prstGeom>
          <a:noFill/>
        </p:spPr>
        <p:txBody>
          <a:bodyPr wrap="square" lIns="45720" rIns="45720" anchor="t">
            <a:spAutoFit/>
          </a:bodyPr>
          <a:lstStyle/>
          <a:p>
            <a:pPr algn="l"/>
            <a:r>
              <a:rPr sz="900" b="1">
                <a:solidFill>
                  <a:srgbClr val="30BFAD"/>
                </a:solidFill>
                <a:latin typeface="Aptos"/>
              </a:rPr>
              <a:t>MONTHLY UNIQUE INVOICES</a:t>
            </a:r>
            <a:endParaRPr sz="900" b="1">
              <a:solidFill>
                <a:srgbClr val="30BFAD"/>
              </a:solidFill>
              <a:latin typeface="Aptos"/>
            </a:endParaRPr>
          </a:p>
        </p:txBody>
      </p:sp>
      <p:pic>
        <p:nvPicPr>
          <p:cNvPr id="17" name="Picture 16" descr="monthly_order_volume.png"/>
          <p:cNvPicPr>
            <a:picLocks noChangeAspect="1"/>
          </p:cNvPicPr>
          <p:nvPr/>
        </p:nvPicPr>
        <p:blipFill>
          <a:blip r:embed="rId2"/>
          <a:stretch>
            <a:fillRect/>
          </a:stretch>
        </p:blipFill>
        <p:spPr>
          <a:xfrm>
            <a:off x="8619922" y="4685157"/>
            <a:ext cx="2489858" cy="1024128"/>
          </a:xfrm>
          <a:prstGeom prst="rect">
            <a:avLst/>
          </a:prstGeom>
        </p:spPr>
      </p:pic>
      <p:sp>
        <p:nvSpPr>
          <p:cNvPr id="18" name="TextBox 17"/>
          <p:cNvSpPr txBox="1"/>
          <p:nvPr/>
        </p:nvSpPr>
        <p:spPr>
          <a:xfrm>
            <a:off x="621792" y="6126480"/>
            <a:ext cx="10881360" cy="219456"/>
          </a:xfrm>
          <a:prstGeom prst="rect">
            <a:avLst/>
          </a:prstGeom>
          <a:noFill/>
        </p:spPr>
        <p:txBody>
          <a:bodyPr wrap="square" lIns="45720" rIns="45720" anchor="t">
            <a:spAutoFit/>
          </a:bodyPr>
          <a:lstStyle/>
          <a:p>
            <a:pPr algn="l"/>
            <a:r>
              <a:rPr sz="1200" b="1">
                <a:solidFill>
                  <a:srgbClr val="30BFAD"/>
                </a:solidFill>
                <a:latin typeface="Aptos"/>
              </a:rPr>
              <a:t>November peaked at £1.46M net revenue and 3,462 invoices; December's 1,015 invoices cover only Dec 1–9.</a:t>
            </a:r>
            <a:endParaRPr sz="1200" b="1">
              <a:solidFill>
                <a:srgbClr val="30BFAD"/>
              </a:solidFill>
              <a:latin typeface="Apto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11F33"/>
        </a:solidFill>
        <a:effectLst/>
      </p:bgPr>
    </p:bg>
    <p:spTree>
      <p:nvGrpSpPr>
        <p:cNvPr id="1" name=""/>
        <p:cNvGrpSpPr/>
        <p:nvPr/>
      </p:nvGrpSpPr>
      <p:grpSpPr/>
      <p:sp>
        <p:nvSpPr>
          <p:cNvPr id="2" name="TextBox 1"/>
          <p:cNvSpPr txBox="1"/>
          <p:nvPr/>
        </p:nvSpPr>
        <p:spPr>
          <a:xfrm>
            <a:off x="530352" y="246888"/>
            <a:ext cx="5486400" cy="256032"/>
          </a:xfrm>
          <a:prstGeom prst="rect">
            <a:avLst/>
          </a:prstGeom>
          <a:noFill/>
        </p:spPr>
        <p:txBody>
          <a:bodyPr wrap="square" lIns="45720" rIns="45720" anchor="t">
            <a:spAutoFit/>
          </a:bodyPr>
          <a:lstStyle/>
          <a:p>
            <a:pPr algn="l"/>
            <a:r>
              <a:rPr sz="1000" b="1">
                <a:solidFill>
                  <a:srgbClr val="30BFAD"/>
                </a:solidFill>
                <a:latin typeface="Aptos"/>
              </a:rPr>
              <a:t>03  |  PRODUCT INSIGHTS</a:t>
            </a:r>
            <a:endParaRPr sz="1000" b="1">
              <a:solidFill>
                <a:srgbClr val="30BFAD"/>
              </a:solidFill>
              <a:latin typeface="Aptos"/>
            </a:endParaRPr>
          </a:p>
        </p:txBody>
      </p:sp>
      <p:sp>
        <p:nvSpPr>
          <p:cNvPr id="3" name="TextBox 2"/>
          <p:cNvSpPr txBox="1"/>
          <p:nvPr/>
        </p:nvSpPr>
        <p:spPr>
          <a:xfrm>
            <a:off x="530352" y="566928"/>
            <a:ext cx="10972800" cy="530352"/>
          </a:xfrm>
          <a:prstGeom prst="rect">
            <a:avLst/>
          </a:prstGeom>
          <a:noFill/>
        </p:spPr>
        <p:txBody>
          <a:bodyPr wrap="square" lIns="45720" rIns="45720" anchor="t">
            <a:spAutoFit/>
          </a:bodyPr>
          <a:lstStyle/>
          <a:p>
            <a:pPr algn="l"/>
            <a:r>
              <a:rPr sz="2700" b="1">
                <a:solidFill>
                  <a:srgbClr val="F6F8FB"/>
                </a:solidFill>
                <a:latin typeface="Aptos"/>
              </a:rPr>
              <a:t>Product demand and order volume</a:t>
            </a:r>
            <a:endParaRPr sz="2700" b="1">
              <a:solidFill>
                <a:srgbClr val="F6F8FB"/>
              </a:solidFill>
              <a:latin typeface="Aptos"/>
            </a:endParaRPr>
          </a:p>
        </p:txBody>
      </p:sp>
      <p:sp>
        <p:nvSpPr>
          <p:cNvPr id="4" name="Rectangle 3"/>
          <p:cNvSpPr/>
          <p:nvPr/>
        </p:nvSpPr>
        <p:spPr>
          <a:xfrm>
            <a:off x="530352" y="1179576"/>
            <a:ext cx="11109960" cy="22860"/>
          </a:xfrm>
          <a:prstGeom prst="rect">
            <a:avLst/>
          </a:prstGeom>
          <a:solidFill>
            <a:srgbClr val="1C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09960" y="6473952"/>
            <a:ext cx="548640" cy="182880"/>
          </a:xfrm>
          <a:prstGeom prst="rect">
            <a:avLst/>
          </a:prstGeom>
          <a:noFill/>
        </p:spPr>
        <p:txBody>
          <a:bodyPr wrap="square" lIns="45720" rIns="45720" anchor="t">
            <a:spAutoFit/>
          </a:bodyPr>
          <a:lstStyle/>
          <a:p>
            <a:pPr algn="r"/>
            <a:r>
              <a:rPr sz="900" b="0">
                <a:solidFill>
                  <a:srgbClr val="B8C5D3"/>
                </a:solidFill>
                <a:latin typeface="Aptos"/>
              </a:rPr>
              <a:t>04 / 07</a:t>
            </a:r>
            <a:endParaRPr sz="900" b="0">
              <a:solidFill>
                <a:srgbClr val="B8C5D3"/>
              </a:solidFill>
              <a:latin typeface="Aptos"/>
            </a:endParaRPr>
          </a:p>
        </p:txBody>
      </p:sp>
      <p:sp>
        <p:nvSpPr>
          <p:cNvPr id="6" name="Rounded Rectangle 5"/>
          <p:cNvSpPr/>
          <p:nvPr/>
        </p:nvSpPr>
        <p:spPr>
          <a:xfrm>
            <a:off x="530352" y="1417320"/>
            <a:ext cx="7498079" cy="4553712"/>
          </a:xfrm>
          <a:prstGeom prst="roundRect">
            <a:avLst>
              <a:gd name="adj" fmla="val 12000"/>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op_10_products.png"/>
          <p:cNvPicPr>
            <a:picLocks noChangeAspect="1"/>
          </p:cNvPicPr>
          <p:nvPr/>
        </p:nvPicPr>
        <p:blipFill>
          <a:blip r:embed="rId1"/>
          <a:stretch>
            <a:fillRect/>
          </a:stretch>
        </p:blipFill>
        <p:spPr>
          <a:xfrm>
            <a:off x="753361" y="1572768"/>
            <a:ext cx="7070349" cy="4224528"/>
          </a:xfrm>
          <a:prstGeom prst="rect">
            <a:avLst/>
          </a:prstGeom>
        </p:spPr>
      </p:pic>
      <p:sp>
        <p:nvSpPr>
          <p:cNvPr id="8" name="Rounded Rectangle 7"/>
          <p:cNvSpPr/>
          <p:nvPr/>
        </p:nvSpPr>
        <p:spPr>
          <a:xfrm>
            <a:off x="8247888" y="1417320"/>
            <a:ext cx="3410712" cy="4553712"/>
          </a:xfrm>
          <a:prstGeom prst="roundRect">
            <a:avLst>
              <a:gd name="adj" fmla="val 12000"/>
            </a:avLst>
          </a:prstGeom>
          <a:solidFill>
            <a:srgbClr val="1C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49640" y="1700784"/>
            <a:ext cx="2788920" cy="256032"/>
          </a:xfrm>
          <a:prstGeom prst="rect">
            <a:avLst/>
          </a:prstGeom>
          <a:noFill/>
        </p:spPr>
        <p:txBody>
          <a:bodyPr wrap="square" lIns="45720" rIns="45720" anchor="t">
            <a:spAutoFit/>
          </a:bodyPr>
          <a:lstStyle/>
          <a:p>
            <a:pPr algn="l"/>
            <a:r>
              <a:rPr sz="1000" b="1">
                <a:solidFill>
                  <a:srgbClr val="30BFAD"/>
                </a:solidFill>
                <a:latin typeface="Aptos"/>
              </a:rPr>
              <a:t>TOP PRODUCT BY NET QUANTITY</a:t>
            </a:r>
            <a:endParaRPr sz="1000" b="1">
              <a:solidFill>
                <a:srgbClr val="30BFAD"/>
              </a:solidFill>
              <a:latin typeface="Aptos"/>
            </a:endParaRPr>
          </a:p>
        </p:txBody>
      </p:sp>
      <p:sp>
        <p:nvSpPr>
          <p:cNvPr id="10" name="TextBox 9"/>
          <p:cNvSpPr txBox="1"/>
          <p:nvPr/>
        </p:nvSpPr>
        <p:spPr>
          <a:xfrm>
            <a:off x="8522208" y="2066543"/>
            <a:ext cx="2743200" cy="941832"/>
          </a:xfrm>
          <a:prstGeom prst="rect">
            <a:avLst/>
          </a:prstGeom>
          <a:noFill/>
        </p:spPr>
        <p:txBody>
          <a:bodyPr wrap="square" lIns="45720" rIns="45720" anchor="t">
            <a:spAutoFit/>
          </a:bodyPr>
          <a:lstStyle/>
          <a:p>
            <a:pPr algn="l"/>
            <a:r>
              <a:rPr sz="1800" b="1">
                <a:solidFill>
                  <a:srgbClr val="F6F8FB"/>
                </a:solidFill>
                <a:latin typeface="Aptos"/>
              </a:rPr>
              <a:t>WORLD WAR 2
GLIDERS ASSTD
DESIGNS</a:t>
            </a:r>
            <a:endParaRPr sz="1800" b="1">
              <a:solidFill>
                <a:srgbClr val="F6F8FB"/>
              </a:solidFill>
              <a:latin typeface="Aptos"/>
            </a:endParaRPr>
          </a:p>
        </p:txBody>
      </p:sp>
      <p:sp>
        <p:nvSpPr>
          <p:cNvPr id="11" name="TextBox 10"/>
          <p:cNvSpPr txBox="1"/>
          <p:nvPr/>
        </p:nvSpPr>
        <p:spPr>
          <a:xfrm>
            <a:off x="8549640" y="3218688"/>
            <a:ext cx="2743200" cy="502920"/>
          </a:xfrm>
          <a:prstGeom prst="rect">
            <a:avLst/>
          </a:prstGeom>
          <a:noFill/>
        </p:spPr>
        <p:txBody>
          <a:bodyPr wrap="square" lIns="45720" rIns="45720" anchor="t">
            <a:spAutoFit/>
          </a:bodyPr>
          <a:lstStyle/>
          <a:p>
            <a:pPr algn="l"/>
            <a:r>
              <a:rPr sz="2800" b="1">
                <a:solidFill>
                  <a:srgbClr val="F6BE4D"/>
                </a:solidFill>
                <a:latin typeface="Aptos"/>
              </a:rPr>
              <a:t>53,751</a:t>
            </a:r>
            <a:endParaRPr sz="2800" b="1">
              <a:solidFill>
                <a:srgbClr val="F6BE4D"/>
              </a:solidFill>
              <a:latin typeface="Aptos"/>
            </a:endParaRPr>
          </a:p>
        </p:txBody>
      </p:sp>
      <p:sp>
        <p:nvSpPr>
          <p:cNvPr id="12" name="TextBox 11"/>
          <p:cNvSpPr txBox="1"/>
          <p:nvPr/>
        </p:nvSpPr>
        <p:spPr>
          <a:xfrm>
            <a:off x="8549640" y="3712463"/>
            <a:ext cx="2743200" cy="310896"/>
          </a:xfrm>
          <a:prstGeom prst="rect">
            <a:avLst/>
          </a:prstGeom>
          <a:noFill/>
        </p:spPr>
        <p:txBody>
          <a:bodyPr wrap="square" lIns="45720" rIns="45720" anchor="t">
            <a:spAutoFit/>
          </a:bodyPr>
          <a:lstStyle/>
          <a:p>
            <a:pPr algn="l"/>
            <a:r>
              <a:rPr sz="1200" b="0">
                <a:solidFill>
                  <a:srgbClr val="B8C5D3"/>
                </a:solidFill>
                <a:latin typeface="Aptos"/>
              </a:rPr>
              <a:t>net units recorded</a:t>
            </a:r>
            <a:endParaRPr sz="1200" b="0">
              <a:solidFill>
                <a:srgbClr val="B8C5D3"/>
              </a:solidFill>
              <a:latin typeface="Aptos"/>
            </a:endParaRPr>
          </a:p>
        </p:txBody>
      </p:sp>
      <p:sp>
        <p:nvSpPr>
          <p:cNvPr id="13" name="Rectangle 12"/>
          <p:cNvSpPr/>
          <p:nvPr/>
        </p:nvSpPr>
        <p:spPr>
          <a:xfrm>
            <a:off x="8549640" y="4160520"/>
            <a:ext cx="2788920" cy="22860"/>
          </a:xfrm>
          <a:prstGeom prst="rect">
            <a:avLst/>
          </a:prstGeom>
          <a:solidFill>
            <a:srgbClr val="475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49640" y="4389120"/>
            <a:ext cx="2743200" cy="1143000"/>
          </a:xfrm>
          <a:prstGeom prst="rect">
            <a:avLst/>
          </a:prstGeom>
          <a:noFill/>
        </p:spPr>
        <p:txBody>
          <a:bodyPr wrap="square" lIns="45720" rIns="45720" anchor="t">
            <a:spAutoFit/>
          </a:bodyPr>
          <a:lstStyle/>
          <a:p>
            <a:pPr algn="l"/>
            <a:r>
              <a:rPr sz="1200" b="0">
                <a:solidFill>
                  <a:srgbClr val="B8C5D3"/>
                </a:solidFill>
                <a:latin typeface="Aptos"/>
              </a:rPr>
              <a:t>Novelty, gift, and household products feature prominently. The ranking measures net units—not revenue or order count.</a:t>
            </a:r>
            <a:endParaRPr sz="1200" b="0">
              <a:solidFill>
                <a:srgbClr val="B8C5D3"/>
              </a:solidFill>
              <a:latin typeface="Aptos"/>
            </a:endParaRPr>
          </a:p>
        </p:txBody>
      </p:sp>
      <p:sp>
        <p:nvSpPr>
          <p:cNvPr id="15" name="TextBox 14"/>
          <p:cNvSpPr txBox="1"/>
          <p:nvPr/>
        </p:nvSpPr>
        <p:spPr>
          <a:xfrm>
            <a:off x="621792" y="6126480"/>
            <a:ext cx="10881360" cy="219456"/>
          </a:xfrm>
          <a:prstGeom prst="rect">
            <a:avLst/>
          </a:prstGeom>
          <a:noFill/>
        </p:spPr>
        <p:txBody>
          <a:bodyPr wrap="square" lIns="45720" rIns="45720" anchor="t">
            <a:spAutoFit/>
          </a:bodyPr>
          <a:lstStyle/>
          <a:p>
            <a:pPr algn="l"/>
            <a:r>
              <a:rPr sz="1200" b="1">
                <a:solidFill>
                  <a:srgbClr val="30BFAD"/>
                </a:solidFill>
                <a:latin typeface="Aptos"/>
              </a:rPr>
              <a:t>Monthly unique invoices increased to 3,462 in November; compare product net quantities with returns in mind.</a:t>
            </a:r>
            <a:endParaRPr sz="1200" b="1">
              <a:solidFill>
                <a:srgbClr val="30BFAD"/>
              </a:solidFill>
              <a:latin typeface="Apto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11F33"/>
        </a:solidFill>
        <a:effectLst/>
      </p:bgPr>
    </p:bg>
    <p:spTree>
      <p:nvGrpSpPr>
        <p:cNvPr id="1" name=""/>
        <p:cNvGrpSpPr/>
        <p:nvPr/>
      </p:nvGrpSpPr>
      <p:grpSpPr/>
      <p:sp>
        <p:nvSpPr>
          <p:cNvPr id="2" name="TextBox 1"/>
          <p:cNvSpPr txBox="1"/>
          <p:nvPr/>
        </p:nvSpPr>
        <p:spPr>
          <a:xfrm>
            <a:off x="530352" y="246888"/>
            <a:ext cx="5486400" cy="256032"/>
          </a:xfrm>
          <a:prstGeom prst="rect">
            <a:avLst/>
          </a:prstGeom>
          <a:noFill/>
        </p:spPr>
        <p:txBody>
          <a:bodyPr wrap="square" lIns="45720" rIns="45720" anchor="t">
            <a:spAutoFit/>
          </a:bodyPr>
          <a:lstStyle/>
          <a:p>
            <a:pPr algn="l"/>
            <a:r>
              <a:rPr sz="1000" b="1">
                <a:solidFill>
                  <a:srgbClr val="30BFAD"/>
                </a:solidFill>
                <a:latin typeface="Aptos"/>
              </a:rPr>
              <a:t>04  |  ACTIONS</a:t>
            </a:r>
            <a:endParaRPr sz="1000" b="1">
              <a:solidFill>
                <a:srgbClr val="30BFAD"/>
              </a:solidFill>
              <a:latin typeface="Aptos"/>
            </a:endParaRPr>
          </a:p>
        </p:txBody>
      </p:sp>
      <p:sp>
        <p:nvSpPr>
          <p:cNvPr id="3" name="TextBox 2"/>
          <p:cNvSpPr txBox="1"/>
          <p:nvPr/>
        </p:nvSpPr>
        <p:spPr>
          <a:xfrm>
            <a:off x="530352" y="566928"/>
            <a:ext cx="10972800" cy="530352"/>
          </a:xfrm>
          <a:prstGeom prst="rect">
            <a:avLst/>
          </a:prstGeom>
          <a:noFill/>
        </p:spPr>
        <p:txBody>
          <a:bodyPr wrap="square" lIns="45720" rIns="45720" anchor="t">
            <a:spAutoFit/>
          </a:bodyPr>
          <a:lstStyle/>
          <a:p>
            <a:pPr algn="l"/>
            <a:r>
              <a:rPr sz="2700" b="1">
                <a:solidFill>
                  <a:srgbClr val="F6F8FB"/>
                </a:solidFill>
                <a:latin typeface="Aptos"/>
              </a:rPr>
              <a:t>Three recommendations</a:t>
            </a:r>
            <a:endParaRPr sz="2700" b="1">
              <a:solidFill>
                <a:srgbClr val="F6F8FB"/>
              </a:solidFill>
              <a:latin typeface="Aptos"/>
            </a:endParaRPr>
          </a:p>
        </p:txBody>
      </p:sp>
      <p:sp>
        <p:nvSpPr>
          <p:cNvPr id="4" name="Rectangle 3"/>
          <p:cNvSpPr/>
          <p:nvPr/>
        </p:nvSpPr>
        <p:spPr>
          <a:xfrm>
            <a:off x="530352" y="1179576"/>
            <a:ext cx="11109960" cy="22860"/>
          </a:xfrm>
          <a:prstGeom prst="rect">
            <a:avLst/>
          </a:prstGeom>
          <a:solidFill>
            <a:srgbClr val="1C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09960" y="6473952"/>
            <a:ext cx="548640" cy="182880"/>
          </a:xfrm>
          <a:prstGeom prst="rect">
            <a:avLst/>
          </a:prstGeom>
          <a:noFill/>
        </p:spPr>
        <p:txBody>
          <a:bodyPr wrap="square" lIns="45720" rIns="45720" anchor="t">
            <a:spAutoFit/>
          </a:bodyPr>
          <a:lstStyle/>
          <a:p>
            <a:pPr algn="r"/>
            <a:r>
              <a:rPr sz="900" b="0">
                <a:solidFill>
                  <a:srgbClr val="B8C5D3"/>
                </a:solidFill>
                <a:latin typeface="Aptos"/>
              </a:rPr>
              <a:t>05 / 07</a:t>
            </a:r>
            <a:endParaRPr sz="900" b="0">
              <a:solidFill>
                <a:srgbClr val="B8C5D3"/>
              </a:solidFill>
              <a:latin typeface="Aptos"/>
            </a:endParaRPr>
          </a:p>
        </p:txBody>
      </p:sp>
      <p:sp>
        <p:nvSpPr>
          <p:cNvPr id="6" name="Rounded Rectangle 5"/>
          <p:cNvSpPr/>
          <p:nvPr/>
        </p:nvSpPr>
        <p:spPr>
          <a:xfrm>
            <a:off x="621792" y="1664208"/>
            <a:ext cx="3529584" cy="3429000"/>
          </a:xfrm>
          <a:prstGeom prst="roundRect">
            <a:avLst>
              <a:gd name="adj" fmla="val 12000"/>
            </a:avLst>
          </a:prstGeom>
          <a:solidFill>
            <a:srgbClr val="1C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21792" y="1664208"/>
            <a:ext cx="64008" cy="3429000"/>
          </a:xfrm>
          <a:prstGeom prst="roundRect">
            <a:avLst>
              <a:gd name="adj" fmla="val 12000"/>
            </a:avLst>
          </a:prstGeom>
          <a:solidFill>
            <a:srgbClr val="30BF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1837944"/>
            <a:ext cx="3118103" cy="219456"/>
          </a:xfrm>
          <a:prstGeom prst="rect">
            <a:avLst/>
          </a:prstGeom>
          <a:noFill/>
        </p:spPr>
        <p:txBody>
          <a:bodyPr wrap="square" lIns="45720" rIns="45720" anchor="t">
            <a:spAutoFit/>
          </a:bodyPr>
          <a:lstStyle/>
          <a:p>
            <a:pPr algn="l"/>
            <a:r>
              <a:rPr sz="1000" b="1">
                <a:solidFill>
                  <a:srgbClr val="30BFAD"/>
                </a:solidFill>
                <a:latin typeface="Aptos"/>
              </a:rPr>
              <a:t>01  •  PLAN INVENTORY</a:t>
            </a:r>
            <a:endParaRPr sz="1000" b="1">
              <a:solidFill>
                <a:srgbClr val="30BFAD"/>
              </a:solidFill>
              <a:latin typeface="Aptos"/>
            </a:endParaRPr>
          </a:p>
        </p:txBody>
      </p:sp>
      <p:sp>
        <p:nvSpPr>
          <p:cNvPr id="9" name="TextBox 8"/>
          <p:cNvSpPr txBox="1"/>
          <p:nvPr/>
        </p:nvSpPr>
        <p:spPr>
          <a:xfrm>
            <a:off x="841248" y="2139696"/>
            <a:ext cx="3118103" cy="393192"/>
          </a:xfrm>
          <a:prstGeom prst="rect">
            <a:avLst/>
          </a:prstGeom>
          <a:noFill/>
        </p:spPr>
        <p:txBody>
          <a:bodyPr wrap="square" lIns="45720" rIns="45720" anchor="t">
            <a:spAutoFit/>
          </a:bodyPr>
          <a:lstStyle/>
          <a:p>
            <a:pPr algn="l"/>
            <a:r>
              <a:rPr sz="1800" b="1">
                <a:solidFill>
                  <a:srgbClr val="F6F8FB"/>
                </a:solidFill>
                <a:latin typeface="Aptos"/>
              </a:rPr>
              <a:t>Use the November peak</a:t>
            </a:r>
            <a:endParaRPr sz="1800" b="1">
              <a:solidFill>
                <a:srgbClr val="F6F8FB"/>
              </a:solidFill>
              <a:latin typeface="Aptos"/>
            </a:endParaRPr>
          </a:p>
        </p:txBody>
      </p:sp>
      <p:sp>
        <p:nvSpPr>
          <p:cNvPr id="10" name="TextBox 9"/>
          <p:cNvSpPr txBox="1"/>
          <p:nvPr/>
        </p:nvSpPr>
        <p:spPr>
          <a:xfrm>
            <a:off x="841248" y="2596896"/>
            <a:ext cx="3118103" cy="2404872"/>
          </a:xfrm>
          <a:prstGeom prst="rect">
            <a:avLst/>
          </a:prstGeom>
          <a:noFill/>
        </p:spPr>
        <p:txBody>
          <a:bodyPr wrap="square" lIns="45720" rIns="45720" anchor="t">
            <a:spAutoFit/>
          </a:bodyPr>
          <a:lstStyle/>
          <a:p>
            <a:pPr algn="l"/>
            <a:r>
              <a:rPr sz="1300" b="0">
                <a:solidFill>
                  <a:srgbClr val="B8C5D3"/>
                </a:solidFill>
                <a:latin typeface="Aptos"/>
              </a:rPr>
              <a:t>Review November's revenue and invoice-volume peak alongside product demand. Validate with more years before assuming the pattern repeats seasonally.</a:t>
            </a:r>
            <a:endParaRPr sz="1300" b="0">
              <a:solidFill>
                <a:srgbClr val="B8C5D3"/>
              </a:solidFill>
              <a:latin typeface="Aptos"/>
            </a:endParaRPr>
          </a:p>
        </p:txBody>
      </p:sp>
      <p:sp>
        <p:nvSpPr>
          <p:cNvPr id="11" name="Rounded Rectangle 10"/>
          <p:cNvSpPr/>
          <p:nvPr/>
        </p:nvSpPr>
        <p:spPr>
          <a:xfrm>
            <a:off x="4334256" y="1664208"/>
            <a:ext cx="3529584" cy="3429000"/>
          </a:xfrm>
          <a:prstGeom prst="roundRect">
            <a:avLst>
              <a:gd name="adj" fmla="val 12000"/>
            </a:avLst>
          </a:prstGeom>
          <a:solidFill>
            <a:srgbClr val="1C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34256" y="1664208"/>
            <a:ext cx="64008" cy="3429000"/>
          </a:xfrm>
          <a:prstGeom prst="roundRect">
            <a:avLst>
              <a:gd name="adj" fmla="val 12000"/>
            </a:avLst>
          </a:prstGeom>
          <a:solidFill>
            <a:srgbClr val="F6B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1837944"/>
            <a:ext cx="3118103" cy="219456"/>
          </a:xfrm>
          <a:prstGeom prst="rect">
            <a:avLst/>
          </a:prstGeom>
          <a:noFill/>
        </p:spPr>
        <p:txBody>
          <a:bodyPr wrap="square" lIns="45720" rIns="45720" anchor="t">
            <a:spAutoFit/>
          </a:bodyPr>
          <a:lstStyle/>
          <a:p>
            <a:pPr algn="l"/>
            <a:r>
              <a:rPr sz="1000" b="1">
                <a:solidFill>
                  <a:srgbClr val="F6BE4D"/>
                </a:solidFill>
                <a:latin typeface="Aptos"/>
              </a:rPr>
              <a:t>02  •  COMPARE FAIRLY</a:t>
            </a:r>
            <a:endParaRPr sz="1000" b="1">
              <a:solidFill>
                <a:srgbClr val="F6BE4D"/>
              </a:solidFill>
              <a:latin typeface="Aptos"/>
            </a:endParaRPr>
          </a:p>
        </p:txBody>
      </p:sp>
      <p:sp>
        <p:nvSpPr>
          <p:cNvPr id="14" name="TextBox 13"/>
          <p:cNvSpPr txBox="1"/>
          <p:nvPr/>
        </p:nvSpPr>
        <p:spPr>
          <a:xfrm>
            <a:off x="4553712" y="2139696"/>
            <a:ext cx="3118103" cy="393192"/>
          </a:xfrm>
          <a:prstGeom prst="rect">
            <a:avLst/>
          </a:prstGeom>
          <a:noFill/>
        </p:spPr>
        <p:txBody>
          <a:bodyPr wrap="square" lIns="45720" rIns="45720" anchor="t">
            <a:spAutoFit/>
          </a:bodyPr>
          <a:lstStyle/>
          <a:p>
            <a:pPr algn="l"/>
            <a:r>
              <a:rPr sz="1800" b="1">
                <a:solidFill>
                  <a:srgbClr val="F6F8FB"/>
                </a:solidFill>
                <a:latin typeface="Aptos"/>
              </a:rPr>
              <a:t>Adjust for partial December</a:t>
            </a:r>
            <a:endParaRPr sz="1800" b="1">
              <a:solidFill>
                <a:srgbClr val="F6F8FB"/>
              </a:solidFill>
              <a:latin typeface="Aptos"/>
            </a:endParaRPr>
          </a:p>
        </p:txBody>
      </p:sp>
      <p:sp>
        <p:nvSpPr>
          <p:cNvPr id="15" name="TextBox 14"/>
          <p:cNvSpPr txBox="1"/>
          <p:nvPr/>
        </p:nvSpPr>
        <p:spPr>
          <a:xfrm>
            <a:off x="4553712" y="2596896"/>
            <a:ext cx="3118103" cy="2404872"/>
          </a:xfrm>
          <a:prstGeom prst="rect">
            <a:avLst/>
          </a:prstGeom>
          <a:noFill/>
        </p:spPr>
        <p:txBody>
          <a:bodyPr wrap="square" lIns="45720" rIns="45720" anchor="t">
            <a:spAutoFit/>
          </a:bodyPr>
          <a:lstStyle/>
          <a:p>
            <a:pPr algn="l"/>
            <a:r>
              <a:rPr sz="1300" b="0">
                <a:solidFill>
                  <a:srgbClr val="B8C5D3"/>
                </a:solidFill>
                <a:latin typeface="Aptos"/>
              </a:rPr>
              <a:t>December covers only the first nine days. Compare like-for-like dates or omit it from full-month comparisons.</a:t>
            </a:r>
            <a:endParaRPr sz="1300" b="0">
              <a:solidFill>
                <a:srgbClr val="B8C5D3"/>
              </a:solidFill>
              <a:latin typeface="Aptos"/>
            </a:endParaRPr>
          </a:p>
        </p:txBody>
      </p:sp>
      <p:sp>
        <p:nvSpPr>
          <p:cNvPr id="16" name="Rounded Rectangle 15"/>
          <p:cNvSpPr/>
          <p:nvPr/>
        </p:nvSpPr>
        <p:spPr>
          <a:xfrm>
            <a:off x="8046720" y="1664208"/>
            <a:ext cx="3529584" cy="3429000"/>
          </a:xfrm>
          <a:prstGeom prst="roundRect">
            <a:avLst>
              <a:gd name="adj" fmla="val 12000"/>
            </a:avLst>
          </a:prstGeom>
          <a:solidFill>
            <a:srgbClr val="1C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046720" y="1664208"/>
            <a:ext cx="64008" cy="3429000"/>
          </a:xfrm>
          <a:prstGeom prst="roundRect">
            <a:avLst>
              <a:gd name="adj" fmla="val 12000"/>
            </a:avLst>
          </a:prstGeom>
          <a:solidFill>
            <a:srgbClr val="30BF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66176" y="1837944"/>
            <a:ext cx="3118103" cy="219456"/>
          </a:xfrm>
          <a:prstGeom prst="rect">
            <a:avLst/>
          </a:prstGeom>
          <a:noFill/>
        </p:spPr>
        <p:txBody>
          <a:bodyPr wrap="square" lIns="45720" rIns="45720" anchor="t">
            <a:spAutoFit/>
          </a:bodyPr>
          <a:lstStyle/>
          <a:p>
            <a:pPr algn="l"/>
            <a:r>
              <a:rPr sz="1000" b="1">
                <a:solidFill>
                  <a:srgbClr val="30BFAD"/>
                </a:solidFill>
                <a:latin typeface="Aptos"/>
              </a:rPr>
              <a:t>03  •  INVESTIGATE</a:t>
            </a:r>
            <a:endParaRPr sz="1000" b="1">
              <a:solidFill>
                <a:srgbClr val="30BFAD"/>
              </a:solidFill>
              <a:latin typeface="Aptos"/>
            </a:endParaRPr>
          </a:p>
        </p:txBody>
      </p:sp>
      <p:sp>
        <p:nvSpPr>
          <p:cNvPr id="19" name="TextBox 18"/>
          <p:cNvSpPr txBox="1"/>
          <p:nvPr/>
        </p:nvSpPr>
        <p:spPr>
          <a:xfrm>
            <a:off x="8266176" y="2139696"/>
            <a:ext cx="3118103" cy="393192"/>
          </a:xfrm>
          <a:prstGeom prst="rect">
            <a:avLst/>
          </a:prstGeom>
          <a:noFill/>
        </p:spPr>
        <p:txBody>
          <a:bodyPr wrap="square" lIns="45720" rIns="45720" anchor="t">
            <a:spAutoFit/>
          </a:bodyPr>
          <a:lstStyle/>
          <a:p>
            <a:pPr algn="l"/>
            <a:r>
              <a:rPr sz="1800" b="1">
                <a:solidFill>
                  <a:srgbClr val="F6F8FB"/>
                </a:solidFill>
                <a:latin typeface="Aptos"/>
              </a:rPr>
              <a:t>Understand adjustments</a:t>
            </a:r>
            <a:endParaRPr sz="1800" b="1">
              <a:solidFill>
                <a:srgbClr val="F6F8FB"/>
              </a:solidFill>
              <a:latin typeface="Aptos"/>
            </a:endParaRPr>
          </a:p>
        </p:txBody>
      </p:sp>
      <p:sp>
        <p:nvSpPr>
          <p:cNvPr id="20" name="TextBox 19"/>
          <p:cNvSpPr txBox="1"/>
          <p:nvPr/>
        </p:nvSpPr>
        <p:spPr>
          <a:xfrm>
            <a:off x="8266176" y="2596896"/>
            <a:ext cx="3118103" cy="2404872"/>
          </a:xfrm>
          <a:prstGeom prst="rect">
            <a:avLst/>
          </a:prstGeom>
          <a:noFill/>
        </p:spPr>
        <p:txBody>
          <a:bodyPr wrap="square" lIns="45720" rIns="45720" anchor="t">
            <a:spAutoFit/>
          </a:bodyPr>
          <a:lstStyle/>
          <a:p>
            <a:pPr algn="l"/>
            <a:r>
              <a:rPr sz="1300" b="0">
                <a:solidFill>
                  <a:srgbClr val="B8C5D3"/>
                </a:solidFill>
                <a:latin typeface="Aptos"/>
              </a:rPr>
              <a:t>Review negative-quantity and zero-price records. Where possible, report positive sales, negative transactions, and net recorded revenue separately.</a:t>
            </a:r>
            <a:endParaRPr sz="1300" b="0">
              <a:solidFill>
                <a:srgbClr val="B8C5D3"/>
              </a:solidFill>
              <a:latin typeface="Aptos"/>
            </a:endParaRPr>
          </a:p>
        </p:txBody>
      </p:sp>
      <p:sp>
        <p:nvSpPr>
          <p:cNvPr id="21" name="TextBox 20"/>
          <p:cNvSpPr txBox="1"/>
          <p:nvPr/>
        </p:nvSpPr>
        <p:spPr>
          <a:xfrm>
            <a:off x="658368" y="5669280"/>
            <a:ext cx="10835640" cy="347472"/>
          </a:xfrm>
          <a:prstGeom prst="rect">
            <a:avLst/>
          </a:prstGeom>
          <a:noFill/>
        </p:spPr>
        <p:txBody>
          <a:bodyPr wrap="square" lIns="45720" rIns="45720" anchor="t">
            <a:spAutoFit/>
          </a:bodyPr>
          <a:lstStyle/>
          <a:p>
            <a:pPr algn="l"/>
            <a:r>
              <a:rPr sz="1400" b="1">
                <a:solidFill>
                  <a:srgbClr val="B8C5D3"/>
                </a:solidFill>
                <a:latin typeface="Aptos"/>
              </a:rPr>
              <a:t>Use historical patterns as evidence for questions to investigate—not guarantees of future demand.</a:t>
            </a:r>
            <a:endParaRPr sz="1400" b="1">
              <a:solidFill>
                <a:srgbClr val="B8C5D3"/>
              </a:solidFill>
              <a:latin typeface="Apto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11F33"/>
        </a:solidFill>
        <a:effectLst/>
      </p:bgPr>
    </p:bg>
    <p:spTree>
      <p:nvGrpSpPr>
        <p:cNvPr id="1" name=""/>
        <p:cNvGrpSpPr/>
        <p:nvPr/>
      </p:nvGrpSpPr>
      <p:grpSpPr/>
      <p:sp>
        <p:nvSpPr>
          <p:cNvPr id="2" name="TextBox 1"/>
          <p:cNvSpPr txBox="1"/>
          <p:nvPr/>
        </p:nvSpPr>
        <p:spPr>
          <a:xfrm>
            <a:off x="530352" y="246888"/>
            <a:ext cx="5486400" cy="256032"/>
          </a:xfrm>
          <a:prstGeom prst="rect">
            <a:avLst/>
          </a:prstGeom>
          <a:noFill/>
        </p:spPr>
        <p:txBody>
          <a:bodyPr wrap="square" lIns="45720" rIns="45720" anchor="t">
            <a:spAutoFit/>
          </a:bodyPr>
          <a:lstStyle/>
          <a:p>
            <a:pPr algn="l"/>
            <a:r>
              <a:rPr sz="1000" b="1">
                <a:solidFill>
                  <a:srgbClr val="30BFAD"/>
                </a:solidFill>
                <a:latin typeface="Aptos"/>
              </a:rPr>
              <a:t>05  |  WRAP-UP</a:t>
            </a:r>
            <a:endParaRPr sz="1000" b="1">
              <a:solidFill>
                <a:srgbClr val="30BFAD"/>
              </a:solidFill>
              <a:latin typeface="Aptos"/>
            </a:endParaRPr>
          </a:p>
        </p:txBody>
      </p:sp>
      <p:sp>
        <p:nvSpPr>
          <p:cNvPr id="3" name="TextBox 2"/>
          <p:cNvSpPr txBox="1"/>
          <p:nvPr/>
        </p:nvSpPr>
        <p:spPr>
          <a:xfrm>
            <a:off x="530352" y="566928"/>
            <a:ext cx="10972800" cy="530352"/>
          </a:xfrm>
          <a:prstGeom prst="rect">
            <a:avLst/>
          </a:prstGeom>
          <a:noFill/>
        </p:spPr>
        <p:txBody>
          <a:bodyPr wrap="square" lIns="45720" rIns="45720" anchor="t">
            <a:spAutoFit/>
          </a:bodyPr>
          <a:lstStyle/>
          <a:p>
            <a:pPr algn="l"/>
            <a:r>
              <a:rPr sz="2700" b="1">
                <a:solidFill>
                  <a:srgbClr val="F6F8FB"/>
                </a:solidFill>
                <a:latin typeface="Aptos"/>
              </a:rPr>
              <a:t>Limitations and conclusion</a:t>
            </a:r>
            <a:endParaRPr sz="2700" b="1">
              <a:solidFill>
                <a:srgbClr val="F6F8FB"/>
              </a:solidFill>
              <a:latin typeface="Aptos"/>
            </a:endParaRPr>
          </a:p>
        </p:txBody>
      </p:sp>
      <p:sp>
        <p:nvSpPr>
          <p:cNvPr id="4" name="Rectangle 3"/>
          <p:cNvSpPr/>
          <p:nvPr/>
        </p:nvSpPr>
        <p:spPr>
          <a:xfrm>
            <a:off x="530352" y="1179576"/>
            <a:ext cx="11109960" cy="22860"/>
          </a:xfrm>
          <a:prstGeom prst="rect">
            <a:avLst/>
          </a:prstGeom>
          <a:solidFill>
            <a:srgbClr val="1C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09960" y="6473952"/>
            <a:ext cx="548640" cy="182880"/>
          </a:xfrm>
          <a:prstGeom prst="rect">
            <a:avLst/>
          </a:prstGeom>
          <a:noFill/>
        </p:spPr>
        <p:txBody>
          <a:bodyPr wrap="square" lIns="45720" rIns="45720" anchor="t">
            <a:spAutoFit/>
          </a:bodyPr>
          <a:lstStyle/>
          <a:p>
            <a:pPr algn="r"/>
            <a:r>
              <a:rPr sz="900" b="0">
                <a:solidFill>
                  <a:srgbClr val="B8C5D3"/>
                </a:solidFill>
                <a:latin typeface="Aptos"/>
              </a:rPr>
              <a:t>06 / 07</a:t>
            </a:r>
            <a:endParaRPr sz="900" b="0">
              <a:solidFill>
                <a:srgbClr val="B8C5D3"/>
              </a:solidFill>
              <a:latin typeface="Aptos"/>
            </a:endParaRPr>
          </a:p>
        </p:txBody>
      </p:sp>
      <p:sp>
        <p:nvSpPr>
          <p:cNvPr id="6" name="Rounded Rectangle 5"/>
          <p:cNvSpPr/>
          <p:nvPr/>
        </p:nvSpPr>
        <p:spPr>
          <a:xfrm>
            <a:off x="530352" y="1481328"/>
            <a:ext cx="6537960" cy="4480560"/>
          </a:xfrm>
          <a:prstGeom prst="roundRect">
            <a:avLst>
              <a:gd name="adj" fmla="val 12000"/>
            </a:avLst>
          </a:prstGeom>
          <a:solidFill>
            <a:srgbClr val="1C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773936"/>
            <a:ext cx="5852160" cy="310896"/>
          </a:xfrm>
          <a:prstGeom prst="rect">
            <a:avLst/>
          </a:prstGeom>
          <a:noFill/>
        </p:spPr>
        <p:txBody>
          <a:bodyPr wrap="square" lIns="45720" rIns="45720" anchor="t">
            <a:spAutoFit/>
          </a:bodyPr>
          <a:lstStyle/>
          <a:p>
            <a:pPr algn="l"/>
            <a:r>
              <a:rPr sz="1100" b="1">
                <a:solidFill>
                  <a:srgbClr val="30BFAD"/>
                </a:solidFill>
                <a:latin typeface="Aptos"/>
              </a:rPr>
              <a:t>LIMITATIONS</a:t>
            </a:r>
            <a:endParaRPr sz="1100" b="1">
              <a:solidFill>
                <a:srgbClr val="30BFAD"/>
              </a:solidFill>
              <a:latin typeface="Aptos"/>
            </a:endParaRPr>
          </a:p>
        </p:txBody>
      </p:sp>
      <p:sp>
        <p:nvSpPr>
          <p:cNvPr id="8" name="Rounded Rectangle 7"/>
          <p:cNvSpPr/>
          <p:nvPr/>
        </p:nvSpPr>
        <p:spPr>
          <a:xfrm>
            <a:off x="877824" y="2340864"/>
            <a:ext cx="100584" cy="100584"/>
          </a:xfrm>
          <a:prstGeom prst="roundRect">
            <a:avLst>
              <a:gd name="adj" fmla="val 12000"/>
            </a:avLst>
          </a:prstGeom>
          <a:solidFill>
            <a:srgbClr val="30BF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2286000"/>
            <a:ext cx="1627632" cy="246888"/>
          </a:xfrm>
          <a:prstGeom prst="rect">
            <a:avLst/>
          </a:prstGeom>
          <a:noFill/>
        </p:spPr>
        <p:txBody>
          <a:bodyPr wrap="square" lIns="45720" rIns="45720" anchor="t">
            <a:spAutoFit/>
          </a:bodyPr>
          <a:lstStyle/>
          <a:p>
            <a:pPr algn="l"/>
            <a:r>
              <a:rPr sz="1300" b="1">
                <a:solidFill>
                  <a:srgbClr val="F6F8FB"/>
                </a:solidFill>
                <a:latin typeface="Aptos"/>
              </a:rPr>
              <a:t>Historical window</a:t>
            </a:r>
            <a:endParaRPr sz="1300" b="1">
              <a:solidFill>
                <a:srgbClr val="F6F8FB"/>
              </a:solidFill>
              <a:latin typeface="Aptos"/>
            </a:endParaRPr>
          </a:p>
        </p:txBody>
      </p:sp>
      <p:sp>
        <p:nvSpPr>
          <p:cNvPr id="10" name="TextBox 9"/>
          <p:cNvSpPr txBox="1"/>
          <p:nvPr/>
        </p:nvSpPr>
        <p:spPr>
          <a:xfrm>
            <a:off x="2788920" y="2286000"/>
            <a:ext cx="3840480" cy="457200"/>
          </a:xfrm>
          <a:prstGeom prst="rect">
            <a:avLst/>
          </a:prstGeom>
          <a:noFill/>
        </p:spPr>
        <p:txBody>
          <a:bodyPr wrap="square" lIns="45720" rIns="45720" anchor="t">
            <a:spAutoFit/>
          </a:bodyPr>
          <a:lstStyle/>
          <a:p>
            <a:pPr algn="l"/>
            <a:r>
              <a:rPr sz="1200" b="0">
                <a:solidFill>
                  <a:srgbClr val="B8C5D3"/>
                </a:solidFill>
                <a:latin typeface="Aptos"/>
              </a:rPr>
              <a:t>Just over one year; not enough to establish recurring seasonality.</a:t>
            </a:r>
            <a:endParaRPr sz="1200" b="0">
              <a:solidFill>
                <a:srgbClr val="B8C5D3"/>
              </a:solidFill>
              <a:latin typeface="Aptos"/>
            </a:endParaRPr>
          </a:p>
        </p:txBody>
      </p:sp>
      <p:sp>
        <p:nvSpPr>
          <p:cNvPr id="11" name="Rounded Rectangle 10"/>
          <p:cNvSpPr/>
          <p:nvPr/>
        </p:nvSpPr>
        <p:spPr>
          <a:xfrm>
            <a:off x="877824" y="3127248"/>
            <a:ext cx="100584" cy="100584"/>
          </a:xfrm>
          <a:prstGeom prst="roundRect">
            <a:avLst>
              <a:gd name="adj" fmla="val 12000"/>
            </a:avLst>
          </a:prstGeom>
          <a:solidFill>
            <a:srgbClr val="F6B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15568" y="3072384"/>
            <a:ext cx="1627632" cy="246888"/>
          </a:xfrm>
          <a:prstGeom prst="rect">
            <a:avLst/>
          </a:prstGeom>
          <a:noFill/>
        </p:spPr>
        <p:txBody>
          <a:bodyPr wrap="square" lIns="45720" rIns="45720" anchor="t">
            <a:spAutoFit/>
          </a:bodyPr>
          <a:lstStyle/>
          <a:p>
            <a:pPr algn="l"/>
            <a:r>
              <a:rPr sz="1300" b="1">
                <a:solidFill>
                  <a:srgbClr val="F6F8FB"/>
                </a:solidFill>
                <a:latin typeface="Aptos"/>
              </a:rPr>
              <a:t>Partial final month</a:t>
            </a:r>
            <a:endParaRPr sz="1300" b="1">
              <a:solidFill>
                <a:srgbClr val="F6F8FB"/>
              </a:solidFill>
              <a:latin typeface="Aptos"/>
            </a:endParaRPr>
          </a:p>
        </p:txBody>
      </p:sp>
      <p:sp>
        <p:nvSpPr>
          <p:cNvPr id="13" name="TextBox 12"/>
          <p:cNvSpPr txBox="1"/>
          <p:nvPr/>
        </p:nvSpPr>
        <p:spPr>
          <a:xfrm>
            <a:off x="2788920" y="3072384"/>
            <a:ext cx="3840480" cy="457200"/>
          </a:xfrm>
          <a:prstGeom prst="rect">
            <a:avLst/>
          </a:prstGeom>
          <a:noFill/>
        </p:spPr>
        <p:txBody>
          <a:bodyPr wrap="square" lIns="45720" rIns="45720" anchor="t">
            <a:spAutoFit/>
          </a:bodyPr>
          <a:lstStyle/>
          <a:p>
            <a:pPr algn="l"/>
            <a:r>
              <a:rPr sz="1200" b="0">
                <a:solidFill>
                  <a:srgbClr val="B8C5D3"/>
                </a:solidFill>
                <a:latin typeface="Aptos"/>
              </a:rPr>
              <a:t>Data ends Dec 9, 2011; December is not a full month.</a:t>
            </a:r>
            <a:endParaRPr sz="1200" b="0">
              <a:solidFill>
                <a:srgbClr val="B8C5D3"/>
              </a:solidFill>
              <a:latin typeface="Aptos"/>
            </a:endParaRPr>
          </a:p>
        </p:txBody>
      </p:sp>
      <p:sp>
        <p:nvSpPr>
          <p:cNvPr id="14" name="Rounded Rectangle 13"/>
          <p:cNvSpPr/>
          <p:nvPr/>
        </p:nvSpPr>
        <p:spPr>
          <a:xfrm>
            <a:off x="877824" y="3913631"/>
            <a:ext cx="100584" cy="100584"/>
          </a:xfrm>
          <a:prstGeom prst="roundRect">
            <a:avLst>
              <a:gd name="adj" fmla="val 12000"/>
            </a:avLst>
          </a:prstGeom>
          <a:solidFill>
            <a:srgbClr val="30BF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15568" y="3858768"/>
            <a:ext cx="1627632" cy="246888"/>
          </a:xfrm>
          <a:prstGeom prst="rect">
            <a:avLst/>
          </a:prstGeom>
          <a:noFill/>
        </p:spPr>
        <p:txBody>
          <a:bodyPr wrap="square" lIns="45720" rIns="45720" anchor="t">
            <a:spAutoFit/>
          </a:bodyPr>
          <a:lstStyle/>
          <a:p>
            <a:pPr algn="l"/>
            <a:r>
              <a:rPr sz="1300" b="1">
                <a:solidFill>
                  <a:srgbClr val="F6F8FB"/>
                </a:solidFill>
                <a:latin typeface="Aptos"/>
              </a:rPr>
              <a:t>Transaction context</a:t>
            </a:r>
            <a:endParaRPr sz="1300" b="1">
              <a:solidFill>
                <a:srgbClr val="F6F8FB"/>
              </a:solidFill>
              <a:latin typeface="Aptos"/>
            </a:endParaRPr>
          </a:p>
        </p:txBody>
      </p:sp>
      <p:sp>
        <p:nvSpPr>
          <p:cNvPr id="16" name="TextBox 15"/>
          <p:cNvSpPr txBox="1"/>
          <p:nvPr/>
        </p:nvSpPr>
        <p:spPr>
          <a:xfrm>
            <a:off x="2788920" y="3858768"/>
            <a:ext cx="3840480" cy="457200"/>
          </a:xfrm>
          <a:prstGeom prst="rect">
            <a:avLst/>
          </a:prstGeom>
          <a:noFill/>
        </p:spPr>
        <p:txBody>
          <a:bodyPr wrap="square" lIns="45720" rIns="45720" anchor="t">
            <a:spAutoFit/>
          </a:bodyPr>
          <a:lstStyle/>
          <a:p>
            <a:pPr algn="l"/>
            <a:r>
              <a:rPr sz="1200" b="0">
                <a:solidFill>
                  <a:srgbClr val="B8C5D3"/>
                </a:solidFill>
                <a:latin typeface="Aptos"/>
              </a:rPr>
              <a:t>Negative transactions and zero prices need investigation.</a:t>
            </a:r>
            <a:endParaRPr sz="1200" b="0">
              <a:solidFill>
                <a:srgbClr val="B8C5D3"/>
              </a:solidFill>
              <a:latin typeface="Aptos"/>
            </a:endParaRPr>
          </a:p>
        </p:txBody>
      </p:sp>
      <p:sp>
        <p:nvSpPr>
          <p:cNvPr id="17" name="Rounded Rectangle 16"/>
          <p:cNvSpPr/>
          <p:nvPr/>
        </p:nvSpPr>
        <p:spPr>
          <a:xfrm>
            <a:off x="877824" y="4700016"/>
            <a:ext cx="100584" cy="100584"/>
          </a:xfrm>
          <a:prstGeom prst="roundRect">
            <a:avLst>
              <a:gd name="adj" fmla="val 12000"/>
            </a:avLst>
          </a:prstGeom>
          <a:solidFill>
            <a:srgbClr val="30BF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15568" y="4645152"/>
            <a:ext cx="1627632" cy="246888"/>
          </a:xfrm>
          <a:prstGeom prst="rect">
            <a:avLst/>
          </a:prstGeom>
          <a:noFill/>
        </p:spPr>
        <p:txBody>
          <a:bodyPr wrap="square" lIns="45720" rIns="45720" anchor="t">
            <a:spAutoFit/>
          </a:bodyPr>
          <a:lstStyle/>
          <a:p>
            <a:pPr algn="l"/>
            <a:r>
              <a:rPr sz="1300" b="1">
                <a:solidFill>
                  <a:srgbClr val="F6F8FB"/>
                </a:solidFill>
                <a:latin typeface="Aptos"/>
              </a:rPr>
              <a:t>No causality</a:t>
            </a:r>
            <a:endParaRPr sz="1300" b="1">
              <a:solidFill>
                <a:srgbClr val="F6F8FB"/>
              </a:solidFill>
              <a:latin typeface="Aptos"/>
            </a:endParaRPr>
          </a:p>
        </p:txBody>
      </p:sp>
      <p:sp>
        <p:nvSpPr>
          <p:cNvPr id="19" name="TextBox 18"/>
          <p:cNvSpPr txBox="1"/>
          <p:nvPr/>
        </p:nvSpPr>
        <p:spPr>
          <a:xfrm>
            <a:off x="2788920" y="4645152"/>
            <a:ext cx="3840480" cy="457200"/>
          </a:xfrm>
          <a:prstGeom prst="rect">
            <a:avLst/>
          </a:prstGeom>
          <a:noFill/>
        </p:spPr>
        <p:txBody>
          <a:bodyPr wrap="square" lIns="45720" rIns="45720" anchor="t">
            <a:spAutoFit/>
          </a:bodyPr>
          <a:lstStyle/>
          <a:p>
            <a:pPr algn="l"/>
            <a:r>
              <a:rPr sz="1200" b="0">
                <a:solidFill>
                  <a:srgbClr val="B8C5D3"/>
                </a:solidFill>
                <a:latin typeface="Aptos"/>
              </a:rPr>
              <a:t>The analysis identifies patterns, not why sales changed.</a:t>
            </a:r>
            <a:endParaRPr sz="1200" b="0">
              <a:solidFill>
                <a:srgbClr val="B8C5D3"/>
              </a:solidFill>
              <a:latin typeface="Aptos"/>
            </a:endParaRPr>
          </a:p>
        </p:txBody>
      </p:sp>
      <p:sp>
        <p:nvSpPr>
          <p:cNvPr id="20" name="Rounded Rectangle 19"/>
          <p:cNvSpPr/>
          <p:nvPr/>
        </p:nvSpPr>
        <p:spPr>
          <a:xfrm>
            <a:off x="7333488" y="1481328"/>
            <a:ext cx="4325112" cy="4480560"/>
          </a:xfrm>
          <a:prstGeom prst="roundRect">
            <a:avLst>
              <a:gd name="adj" fmla="val 12000"/>
            </a:avLst>
          </a:prstGeom>
          <a:solidFill>
            <a:srgbClr val="30BF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0" y="1810512"/>
            <a:ext cx="3611880" cy="292608"/>
          </a:xfrm>
          <a:prstGeom prst="rect">
            <a:avLst/>
          </a:prstGeom>
          <a:noFill/>
        </p:spPr>
        <p:txBody>
          <a:bodyPr wrap="square" lIns="45720" rIns="45720" anchor="t">
            <a:spAutoFit/>
          </a:bodyPr>
          <a:lstStyle/>
          <a:p>
            <a:pPr algn="l"/>
            <a:r>
              <a:rPr sz="1100" b="1">
                <a:solidFill>
                  <a:srgbClr val="111F33"/>
                </a:solidFill>
                <a:latin typeface="Aptos"/>
              </a:rPr>
              <a:t>TAKEAWAY</a:t>
            </a:r>
            <a:endParaRPr sz="1100" b="1">
              <a:solidFill>
                <a:srgbClr val="111F33"/>
              </a:solidFill>
              <a:latin typeface="Aptos"/>
            </a:endParaRPr>
          </a:p>
        </p:txBody>
      </p:sp>
      <p:sp>
        <p:nvSpPr>
          <p:cNvPr id="22" name="TextBox 21"/>
          <p:cNvSpPr txBox="1"/>
          <p:nvPr/>
        </p:nvSpPr>
        <p:spPr>
          <a:xfrm>
            <a:off x="7662672" y="2267712"/>
            <a:ext cx="3639312" cy="1298448"/>
          </a:xfrm>
          <a:prstGeom prst="rect">
            <a:avLst/>
          </a:prstGeom>
          <a:noFill/>
        </p:spPr>
        <p:txBody>
          <a:bodyPr wrap="square" lIns="45720" rIns="45720" anchor="t">
            <a:spAutoFit/>
          </a:bodyPr>
          <a:lstStyle/>
          <a:p>
            <a:pPr algn="l"/>
            <a:r>
              <a:rPr sz="2000" b="1">
                <a:solidFill>
                  <a:srgbClr val="111F33"/>
                </a:solidFill>
                <a:latin typeface="Aptos"/>
              </a:rPr>
              <a:t>Demand rose toward November, and leading products offer a starting point for inventory review.</a:t>
            </a:r>
            <a:endParaRPr sz="2000" b="1">
              <a:solidFill>
                <a:srgbClr val="111F33"/>
              </a:solidFill>
              <a:latin typeface="Aptos"/>
            </a:endParaRPr>
          </a:p>
        </p:txBody>
      </p:sp>
      <p:sp>
        <p:nvSpPr>
          <p:cNvPr id="23" name="Rectangle 22"/>
          <p:cNvSpPr/>
          <p:nvPr/>
        </p:nvSpPr>
        <p:spPr>
          <a:xfrm>
            <a:off x="7680960" y="3877056"/>
            <a:ext cx="3602736" cy="22860"/>
          </a:xfrm>
          <a:prstGeom prst="rect">
            <a:avLst/>
          </a:prstGeom>
          <a:solidFill>
            <a:srgbClr val="208C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0" y="4169663"/>
            <a:ext cx="3584448" cy="1115568"/>
          </a:xfrm>
          <a:prstGeom prst="rect">
            <a:avLst/>
          </a:prstGeom>
          <a:noFill/>
        </p:spPr>
        <p:txBody>
          <a:bodyPr wrap="square" lIns="45720" rIns="45720" anchor="t">
            <a:spAutoFit/>
          </a:bodyPr>
          <a:lstStyle/>
          <a:p>
            <a:pPr algn="l"/>
            <a:r>
              <a:rPr sz="1400" b="0">
                <a:solidFill>
                  <a:srgbClr val="111F33"/>
                </a:solidFill>
                <a:latin typeface="Aptos"/>
              </a:rPr>
              <a:t>Treat results as historical evidence, account for net transactions, and investigate before acting.</a:t>
            </a:r>
            <a:endParaRPr sz="1400" b="0">
              <a:solidFill>
                <a:srgbClr val="111F33"/>
              </a:solidFill>
              <a:latin typeface="Apto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11F33"/>
        </a:solidFill>
        <a:effectLst/>
      </p:bgPr>
    </p:bg>
    <p:spTree>
      <p:nvGrpSpPr>
        <p:cNvPr id="1" name=""/>
        <p:cNvGrpSpPr/>
        <p:nvPr/>
      </p:nvGrpSpPr>
      <p:grpSpPr/>
      <p:sp>
        <p:nvSpPr>
          <p:cNvPr id="2" name="Rounded Rectangle 1"/>
          <p:cNvSpPr/>
          <p:nvPr/>
        </p:nvSpPr>
        <p:spPr>
          <a:xfrm>
            <a:off x="658368" y="694944"/>
            <a:ext cx="91440" cy="5440680"/>
          </a:xfrm>
          <a:prstGeom prst="roundRect">
            <a:avLst>
              <a:gd name="adj" fmla="val 12000"/>
            </a:avLst>
          </a:prstGeom>
          <a:solidFill>
            <a:srgbClr val="30BF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 y="1371600"/>
            <a:ext cx="5486400" cy="310896"/>
          </a:xfrm>
          <a:prstGeom prst="rect">
            <a:avLst/>
          </a:prstGeom>
          <a:noFill/>
        </p:spPr>
        <p:txBody>
          <a:bodyPr wrap="square" lIns="45720" rIns="45720" anchor="t">
            <a:spAutoFit/>
          </a:bodyPr>
          <a:lstStyle/>
          <a:p>
            <a:pPr algn="l"/>
            <a:r>
              <a:rPr sz="1200" b="1">
                <a:solidFill>
                  <a:srgbClr val="30BFAD"/>
                </a:solidFill>
                <a:latin typeface="Aptos"/>
              </a:rPr>
              <a:t>ONLINE RETAIL ANALYSIS</a:t>
            </a:r>
            <a:endParaRPr sz="1200" b="1">
              <a:solidFill>
                <a:srgbClr val="30BFAD"/>
              </a:solidFill>
              <a:latin typeface="Aptos"/>
            </a:endParaRPr>
          </a:p>
        </p:txBody>
      </p:sp>
      <p:sp>
        <p:nvSpPr>
          <p:cNvPr id="4" name="TextBox 3"/>
          <p:cNvSpPr txBox="1"/>
          <p:nvPr/>
        </p:nvSpPr>
        <p:spPr>
          <a:xfrm>
            <a:off x="1024128" y="2194560"/>
            <a:ext cx="8046720" cy="960120"/>
          </a:xfrm>
          <a:prstGeom prst="rect">
            <a:avLst/>
          </a:prstGeom>
          <a:noFill/>
        </p:spPr>
        <p:txBody>
          <a:bodyPr wrap="square" lIns="45720" rIns="45720" anchor="t">
            <a:spAutoFit/>
          </a:bodyPr>
          <a:lstStyle/>
          <a:p>
            <a:pPr algn="l"/>
            <a:r>
              <a:rPr sz="4400" b="1">
                <a:solidFill>
                  <a:srgbClr val="F6F8FB"/>
                </a:solidFill>
                <a:latin typeface="Aptos"/>
              </a:rPr>
              <a:t>Thank you</a:t>
            </a:r>
            <a:endParaRPr sz="4400" b="1">
              <a:solidFill>
                <a:srgbClr val="F6F8FB"/>
              </a:solidFill>
              <a:latin typeface="Aptos"/>
            </a:endParaRPr>
          </a:p>
        </p:txBody>
      </p:sp>
      <p:sp>
        <p:nvSpPr>
          <p:cNvPr id="5" name="Rectangle 4"/>
          <p:cNvSpPr/>
          <p:nvPr/>
        </p:nvSpPr>
        <p:spPr>
          <a:xfrm flipV="1">
            <a:off x="1060450" y="3355975"/>
            <a:ext cx="2724785" cy="76200"/>
          </a:xfrm>
          <a:prstGeom prst="rect">
            <a:avLst/>
          </a:prstGeom>
          <a:solidFill>
            <a:srgbClr val="F6B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3822191"/>
            <a:ext cx="8046720" cy="777240"/>
          </a:xfrm>
          <a:prstGeom prst="rect">
            <a:avLst/>
          </a:prstGeom>
          <a:noFill/>
        </p:spPr>
        <p:txBody>
          <a:bodyPr wrap="square" lIns="45720" rIns="45720" anchor="t">
            <a:spAutoFit/>
          </a:bodyPr>
          <a:lstStyle/>
          <a:p>
            <a:pPr algn="l"/>
            <a:r>
              <a:rPr sz="3000" b="1">
                <a:solidFill>
                  <a:srgbClr val="B8C5D3"/>
                </a:solidFill>
                <a:latin typeface="Aptos"/>
              </a:rPr>
              <a:t>Any questions?</a:t>
            </a:r>
            <a:endParaRPr sz="3000" b="1">
              <a:solidFill>
                <a:srgbClr val="B8C5D3"/>
              </a:solidFill>
              <a:latin typeface="Aptos"/>
            </a:endParaRPr>
          </a:p>
        </p:txBody>
      </p:sp>
      <p:sp>
        <p:nvSpPr>
          <p:cNvPr id="7" name="TextBox 6"/>
          <p:cNvSpPr txBox="1"/>
          <p:nvPr/>
        </p:nvSpPr>
        <p:spPr>
          <a:xfrm>
            <a:off x="11109960" y="6473952"/>
            <a:ext cx="548640" cy="182880"/>
          </a:xfrm>
          <a:prstGeom prst="rect">
            <a:avLst/>
          </a:prstGeom>
          <a:noFill/>
        </p:spPr>
        <p:txBody>
          <a:bodyPr wrap="square" lIns="45720" rIns="45720" anchor="t">
            <a:spAutoFit/>
          </a:bodyPr>
          <a:lstStyle/>
          <a:p>
            <a:pPr algn="r"/>
            <a:r>
              <a:rPr sz="900" b="0">
                <a:solidFill>
                  <a:srgbClr val="B8C5D3"/>
                </a:solidFill>
                <a:latin typeface="Aptos"/>
              </a:rPr>
              <a:t>07 / 07</a:t>
            </a:r>
            <a:endParaRPr sz="900" b="0">
              <a:solidFill>
                <a:srgbClr val="B8C5D3"/>
              </a:solidFill>
              <a:latin typeface="Apto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2767</Words>
  <Application>WPS Presentation</Application>
  <PresentationFormat>On-screen Show (4:3)</PresentationFormat>
  <Paragraphs>150</Paragraphs>
  <Slides>7</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7</vt:i4>
      </vt:variant>
    </vt:vector>
  </HeadingPairs>
  <TitlesOfParts>
    <vt:vector size="17" baseType="lpstr">
      <vt:lpstr>Arial</vt:lpstr>
      <vt:lpstr>SimSun</vt:lpstr>
      <vt:lpstr>Wingdings</vt:lpstr>
      <vt:lpstr>Arial</vt:lpstr>
      <vt:lpstr>Aptos</vt:lpstr>
      <vt:lpstr>Segoe UI</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Gaurab Ghale</cp:lastModifiedBy>
  <cp:revision>2</cp:revision>
  <dcterms:created xsi:type="dcterms:W3CDTF">2013-01-27T09:14:00Z</dcterms:created>
  <dcterms:modified xsi:type="dcterms:W3CDTF">2026-10-26T08:43:56Z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98B5B46C12F749E7BD050B919E6CAAA2_12</vt:lpwstr>
  </property>
  <property fmtid="{D5CDD505-2E9C-101B-9397-08002B2CF9AE}" pid="3" name="KSOProductBuildVer">
    <vt:lpwstr>1033-12.1.0.29162</vt:lpwstr>
  </property>
</Properties>
</file>